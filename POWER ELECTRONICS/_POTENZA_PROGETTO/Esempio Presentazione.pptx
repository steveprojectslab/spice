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5.xml"/>
  <Override ContentType="application/vnd.ms-office.chartcolorstyle+xml" PartName="/ppt/charts/colors6.xml"/>
  <Override ContentType="application/vnd.ms-office.chartcolorstyle+xml" PartName="/ppt/charts/colors4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ms-office.chartcolorstyle+xml" PartName="/ppt/charts/colors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3.xml"/>
  <Override ContentType="application/vnd.ms-office.chartstyle+xml" PartName="/ppt/charts/style4.xml"/>
  <Override ContentType="application/vnd.ms-office.chartstyle+xml" PartName="/ppt/charts/style5.xml"/>
  <Override ContentType="application/vnd.ms-office.chartstyle+xml" PartName="/ppt/charts/style7.xml"/>
  <Override ContentType="application/vnd.ms-office.chartstyle+xml" PartName="/ppt/charts/style1.xml"/>
  <Override ContentType="application/vnd.ms-office.chartstyle+xml" PartName="/ppt/charts/style6.xml"/>
  <Override ContentType="application/vnd.ms-office.chartstyle+xml" PartName="/ppt/charts/style2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9" roundtripDataSignature="AMtx7miZ8KNi9AaKh+3mSvd9Z6if39nI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B4574E-5275-4C1F-AE79-F6D1C1B99E57}">
  <a:tblStyle styleId="{45B4574E-5275-4C1F-AE79-F6D1C1B99E5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customschemas.google.com/relationships/presentationmetadata" Target="metadata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Users\mauri\Desktop\Esame%20circuiti%20di%20potenza\Grafici.xlsx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/C:\Users\mauri\Desktop\Esame%20circuiti%20di%20potenza\Grafici.xlsx" TargetMode="External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Cartel1" TargetMode="External"/></Relationships>
</file>

<file path=ppt/charts/_rels/chart4.xml.rels><?xml version="1.0" encoding="UTF-8" standalone="yes"?>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file:///C:\Users\mauri\Desktop\UNIVERSITA\Esame%20circuiti%20di%20potenza\efficienza%20parte%201%20vera.xlsx" TargetMode="External"/></Relationships>
</file>

<file path=ppt/charts/_rels/chart5.xml.rels><?xml version="1.0" encoding="UTF-8" standalone="yes"?>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oleObject" Target="file:///C:\Users\mauri\Desktop\UNIVERSITA\Esame%20circuiti%20di%20potenza\screen%20plots\Parte%202\guadagno%20e%20efficienza.xlsx" TargetMode="External"/></Relationships>
</file>

<file path=ppt/charts/_rels/chart6.xml.rels><?xml version="1.0" encoding="UTF-8" standalone="yes"?>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oleObject" Target="file:///C:\Users\mauri\Desktop\UNIVERSITA\Esame%20circuiti%20di%20potenza\screen%20plots\Parte%202\guadagno%20e%20efficienza.xlsx" TargetMode="External"/></Relationships>
</file>

<file path=ppt/charts/_rels/chart7.xml.rels><?xml version="1.0" encoding="UTF-8" standalone="yes"?>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oleObject" Target="file:///C:\Users\mauri\Desktop\UNIVERSITA\Esame%20circuiti%20di%20potenza\efficienza%20parte%201%20ver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743978203586052"/>
          <c:y val="3.2569014037070951E-2"/>
          <c:w val="0.64551246351936553"/>
          <c:h val="0.78622896837820655"/>
        </c:manualLayout>
      </c:layout>
      <c:scatterChart>
        <c:scatterStyle val="lineMarker"/>
        <c:varyColors val="0"/>
        <c:ser>
          <c:idx val="0"/>
          <c:order val="0"/>
          <c:tx>
            <c:v>k=1</c:v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Foglio1!$B$4:$B$37</c:f>
              <c:numCache>
                <c:formatCode>General</c:formatCode>
                <c:ptCount val="34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</c:numCache>
            </c:numRef>
          </c:xVal>
          <c:yVal>
            <c:numRef>
              <c:f>Foglio1!$E$4:$E$37</c:f>
              <c:numCache>
                <c:formatCode>General</c:formatCode>
                <c:ptCount val="34"/>
                <c:pt idx="0">
                  <c:v>5</c:v>
                </c:pt>
                <c:pt idx="1">
                  <c:v>5.0256410256410255</c:v>
                </c:pt>
                <c:pt idx="2">
                  <c:v>5.0526315789473681</c:v>
                </c:pt>
                <c:pt idx="3">
                  <c:v>5.0810810810810807</c:v>
                </c:pt>
                <c:pt idx="4">
                  <c:v>5.1111111111111107</c:v>
                </c:pt>
                <c:pt idx="5">
                  <c:v>5.1428571428571423</c:v>
                </c:pt>
                <c:pt idx="6">
                  <c:v>5.1764705882352944</c:v>
                </c:pt>
                <c:pt idx="7">
                  <c:v>5.2121212121212128</c:v>
                </c:pt>
                <c:pt idx="8">
                  <c:v>5.25</c:v>
                </c:pt>
                <c:pt idx="9">
                  <c:v>5.290322580645161</c:v>
                </c:pt>
                <c:pt idx="10">
                  <c:v>5.3333333333333339</c:v>
                </c:pt>
                <c:pt idx="11">
                  <c:v>5.3793103448275863</c:v>
                </c:pt>
                <c:pt idx="12">
                  <c:v>5.4285714285714288</c:v>
                </c:pt>
                <c:pt idx="13">
                  <c:v>5.481481481481481</c:v>
                </c:pt>
                <c:pt idx="14">
                  <c:v>5.5384615384615383</c:v>
                </c:pt>
                <c:pt idx="15">
                  <c:v>5.6</c:v>
                </c:pt>
                <c:pt idx="16">
                  <c:v>5.666666666666667</c:v>
                </c:pt>
                <c:pt idx="17">
                  <c:v>5.7391304347826093</c:v>
                </c:pt>
                <c:pt idx="18">
                  <c:v>5.8181818181818183</c:v>
                </c:pt>
                <c:pt idx="19">
                  <c:v>5.9047619047619051</c:v>
                </c:pt>
                <c:pt idx="20">
                  <c:v>6</c:v>
                </c:pt>
                <c:pt idx="21">
                  <c:v>6.1052631578947372</c:v>
                </c:pt>
                <c:pt idx="22">
                  <c:v>6.2222222222222223</c:v>
                </c:pt>
                <c:pt idx="23">
                  <c:v>6.3529411764705879</c:v>
                </c:pt>
                <c:pt idx="24">
                  <c:v>6.5</c:v>
                </c:pt>
                <c:pt idx="25">
                  <c:v>6.6666666666666661</c:v>
                </c:pt>
                <c:pt idx="26">
                  <c:v>6.8571428571428577</c:v>
                </c:pt>
                <c:pt idx="27">
                  <c:v>7.0769230769230775</c:v>
                </c:pt>
                <c:pt idx="28">
                  <c:v>7.333333333333333</c:v>
                </c:pt>
                <c:pt idx="29">
                  <c:v>7.6363636363636358</c:v>
                </c:pt>
                <c:pt idx="30">
                  <c:v>8</c:v>
                </c:pt>
                <c:pt idx="31">
                  <c:v>8.4444444444444464</c:v>
                </c:pt>
                <c:pt idx="32">
                  <c:v>9</c:v>
                </c:pt>
                <c:pt idx="33">
                  <c:v>9.7142857142857117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426-498E-A383-527EEE8A7E44}"/>
            </c:ext>
          </c:extLst>
        </c:ser>
        <c:ser>
          <c:idx val="1"/>
          <c:order val="1"/>
          <c:tx>
            <c:v>k=0.95</c:v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Foglio1!$G$4:$G$37</c:f>
              <c:numCache>
                <c:formatCode>General</c:formatCode>
                <c:ptCount val="34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</c:numCache>
            </c:numRef>
          </c:xVal>
          <c:yVal>
            <c:numRef>
              <c:f>Foglio1!$J$4:$J$37</c:f>
              <c:numCache>
                <c:formatCode>General</c:formatCode>
                <c:ptCount val="34"/>
                <c:pt idx="0">
                  <c:v>4.8499999999999996</c:v>
                </c:pt>
                <c:pt idx="1">
                  <c:v>4.8756410256410252</c:v>
                </c:pt>
                <c:pt idx="2">
                  <c:v>4.9026315789473678</c:v>
                </c:pt>
                <c:pt idx="3">
                  <c:v>4.9310810810810803</c:v>
                </c:pt>
                <c:pt idx="4">
                  <c:v>4.9611111111111104</c:v>
                </c:pt>
                <c:pt idx="5">
                  <c:v>4.992857142857142</c:v>
                </c:pt>
                <c:pt idx="6">
                  <c:v>5.026470588235294</c:v>
                </c:pt>
                <c:pt idx="7">
                  <c:v>5.0621212121212125</c:v>
                </c:pt>
                <c:pt idx="8">
                  <c:v>5.0999999999999996</c:v>
                </c:pt>
                <c:pt idx="9">
                  <c:v>5.1403225806451607</c:v>
                </c:pt>
                <c:pt idx="10">
                  <c:v>5.1833333333333336</c:v>
                </c:pt>
                <c:pt idx="11">
                  <c:v>5.2293103448275859</c:v>
                </c:pt>
                <c:pt idx="12">
                  <c:v>5.2785714285714285</c:v>
                </c:pt>
                <c:pt idx="13">
                  <c:v>5.3314814814814806</c:v>
                </c:pt>
                <c:pt idx="14">
                  <c:v>5.388461538461538</c:v>
                </c:pt>
                <c:pt idx="15">
                  <c:v>5.4499999999999993</c:v>
                </c:pt>
                <c:pt idx="16">
                  <c:v>5.5166666666666666</c:v>
                </c:pt>
                <c:pt idx="17">
                  <c:v>5.589130434782609</c:v>
                </c:pt>
                <c:pt idx="18">
                  <c:v>5.668181818181818</c:v>
                </c:pt>
                <c:pt idx="19">
                  <c:v>5.7547619047619047</c:v>
                </c:pt>
                <c:pt idx="20">
                  <c:v>5.85</c:v>
                </c:pt>
                <c:pt idx="21">
                  <c:v>5.9552631578947368</c:v>
                </c:pt>
                <c:pt idx="22">
                  <c:v>6.072222222222222</c:v>
                </c:pt>
                <c:pt idx="23">
                  <c:v>6.2029411764705875</c:v>
                </c:pt>
                <c:pt idx="24">
                  <c:v>6.35</c:v>
                </c:pt>
                <c:pt idx="25">
                  <c:v>6.5166666666666657</c:v>
                </c:pt>
                <c:pt idx="26">
                  <c:v>6.7071428571428573</c:v>
                </c:pt>
                <c:pt idx="27">
                  <c:v>6.9269230769230772</c:v>
                </c:pt>
                <c:pt idx="28">
                  <c:v>7.1833333333333327</c:v>
                </c:pt>
                <c:pt idx="29">
                  <c:v>7.4863636363636354</c:v>
                </c:pt>
                <c:pt idx="30">
                  <c:v>7.85</c:v>
                </c:pt>
                <c:pt idx="31">
                  <c:v>8.2944444444444443</c:v>
                </c:pt>
                <c:pt idx="32">
                  <c:v>8.8500000000000014</c:v>
                </c:pt>
                <c:pt idx="33">
                  <c:v>9.5642857142857132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426-498E-A383-527EEE8A7E44}"/>
            </c:ext>
          </c:extLst>
        </c:ser>
        <c:ser>
          <c:idx val="2"/>
          <c:order val="2"/>
          <c:tx>
            <c:v>k=0.9</c:v>
          </c:tx>
          <c:spPr>
            <a:ln w="127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Foglio1!$L$4:$L$37</c:f>
              <c:numCache>
                <c:formatCode>General</c:formatCode>
                <c:ptCount val="34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</c:numCache>
            </c:numRef>
          </c:xVal>
          <c:yVal>
            <c:numRef>
              <c:f>Foglio1!$O$4:$O$37</c:f>
              <c:numCache>
                <c:formatCode>General</c:formatCode>
                <c:ptCount val="34"/>
                <c:pt idx="0">
                  <c:v>4.7</c:v>
                </c:pt>
                <c:pt idx="1">
                  <c:v>4.7256410256410266</c:v>
                </c:pt>
                <c:pt idx="2">
                  <c:v>4.7526315789473692</c:v>
                </c:pt>
                <c:pt idx="3">
                  <c:v>4.7810810810810818</c:v>
                </c:pt>
                <c:pt idx="4">
                  <c:v>4.8111111111111118</c:v>
                </c:pt>
                <c:pt idx="5">
                  <c:v>4.8428571428571434</c:v>
                </c:pt>
                <c:pt idx="6">
                  <c:v>4.8764705882352946</c:v>
                </c:pt>
                <c:pt idx="7">
                  <c:v>4.9121212121212121</c:v>
                </c:pt>
                <c:pt idx="8">
                  <c:v>4.95</c:v>
                </c:pt>
                <c:pt idx="9">
                  <c:v>4.9903225806451612</c:v>
                </c:pt>
                <c:pt idx="10">
                  <c:v>5.0333333333333332</c:v>
                </c:pt>
                <c:pt idx="11">
                  <c:v>5.0793103448275865</c:v>
                </c:pt>
                <c:pt idx="12">
                  <c:v>5.128571428571429</c:v>
                </c:pt>
                <c:pt idx="13">
                  <c:v>5.181481481481482</c:v>
                </c:pt>
                <c:pt idx="14">
                  <c:v>5.2384615384615385</c:v>
                </c:pt>
                <c:pt idx="15">
                  <c:v>5.3000000000000007</c:v>
                </c:pt>
                <c:pt idx="16">
                  <c:v>5.3666666666666671</c:v>
                </c:pt>
                <c:pt idx="17">
                  <c:v>5.4391304347826086</c:v>
                </c:pt>
                <c:pt idx="18">
                  <c:v>5.5181818181818176</c:v>
                </c:pt>
                <c:pt idx="19">
                  <c:v>5.6047619047619044</c:v>
                </c:pt>
                <c:pt idx="20">
                  <c:v>5.7</c:v>
                </c:pt>
                <c:pt idx="21">
                  <c:v>5.8052631578947373</c:v>
                </c:pt>
                <c:pt idx="22">
                  <c:v>5.9222222222222225</c:v>
                </c:pt>
                <c:pt idx="23">
                  <c:v>6.052941176470588</c:v>
                </c:pt>
                <c:pt idx="24">
                  <c:v>6.1999999999999993</c:v>
                </c:pt>
                <c:pt idx="25">
                  <c:v>6.3666666666666671</c:v>
                </c:pt>
                <c:pt idx="26">
                  <c:v>6.5571428571428578</c:v>
                </c:pt>
                <c:pt idx="27">
                  <c:v>6.7769230769230777</c:v>
                </c:pt>
                <c:pt idx="28">
                  <c:v>7.0333333333333332</c:v>
                </c:pt>
                <c:pt idx="29">
                  <c:v>7.336363636363636</c:v>
                </c:pt>
                <c:pt idx="30">
                  <c:v>7.7</c:v>
                </c:pt>
                <c:pt idx="31">
                  <c:v>8.1444444444444457</c:v>
                </c:pt>
                <c:pt idx="32">
                  <c:v>8.7000000000000011</c:v>
                </c:pt>
                <c:pt idx="33">
                  <c:v>9.4142857142857128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426-498E-A383-527EEE8A7E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2713152"/>
        <c:axId val="468969232"/>
      </c:scatterChart>
      <c:valAx>
        <c:axId val="472713152"/>
        <c:scaling>
          <c:orientation val="minMax"/>
          <c:max val="0.8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sz="1800"/>
                  <a:t>Duty cycle</a:t>
                </a:r>
              </a:p>
            </c:rich>
          </c:tx>
          <c:layout>
            <c:manualLayout>
              <c:xMode val="edge"/>
              <c:yMode val="edge"/>
              <c:x val="0.41982419514868663"/>
              <c:y val="0.9075369301183049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468969232"/>
        <c:crosses val="autoZero"/>
        <c:crossBetween val="midCat"/>
      </c:valAx>
      <c:valAx>
        <c:axId val="468969232"/>
        <c:scaling>
          <c:orientation val="minMax"/>
          <c:max val="10"/>
          <c:min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sz="1600"/>
                  <a:t>V</a:t>
                </a:r>
                <a:r>
                  <a:rPr lang="it-IT" sz="1600" baseline="-25000"/>
                  <a:t>o</a:t>
                </a:r>
                <a:r>
                  <a:rPr lang="it-IT" sz="1600"/>
                  <a:t>/V</a:t>
                </a:r>
                <a:r>
                  <a:rPr lang="it-IT" sz="1600" baseline="-25000"/>
                  <a:t>i</a:t>
                </a:r>
              </a:p>
            </c:rich>
          </c:tx>
          <c:layout>
            <c:manualLayout>
              <c:xMode val="edge"/>
              <c:yMode val="edge"/>
              <c:x val="5.0762592186864179E-2"/>
              <c:y val="0.4149913994726965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472713152"/>
        <c:crosses val="autoZero"/>
        <c:crossBetween val="midCat"/>
      </c:valAx>
      <c:spPr>
        <a:noFill/>
        <a:ln>
          <a:solidFill>
            <a:schemeClr val="accent1"/>
          </a:solidFill>
        </a:ln>
        <a:effectLst/>
      </c:spPr>
    </c:plotArea>
    <c:legend>
      <c:legendPos val="r"/>
      <c:layout>
        <c:manualLayout>
          <c:xMode val="edge"/>
          <c:yMode val="edge"/>
          <c:x val="0.80916553114988199"/>
          <c:y val="0.34734016504646836"/>
          <c:w val="0.19083443350581922"/>
          <c:h val="0.251701512975350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381679448097417"/>
          <c:y val="9.1088620409331911E-2"/>
          <c:w val="0.68741098804518252"/>
          <c:h val="0.74022078410119285"/>
        </c:manualLayout>
      </c:layout>
      <c:scatterChart>
        <c:scatterStyle val="smoothMarker"/>
        <c:varyColors val="0"/>
        <c:ser>
          <c:idx val="0"/>
          <c:order val="0"/>
          <c:tx>
            <c:v>n=1</c:v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Foglio1!$B$40:$B$73</c:f>
              <c:numCache>
                <c:formatCode>General</c:formatCode>
                <c:ptCount val="34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</c:numCache>
            </c:numRef>
          </c:xVal>
          <c:yVal>
            <c:numRef>
              <c:f>Foglio1!$E$40:$E$73</c:f>
              <c:numCache>
                <c:formatCode>General</c:formatCode>
                <c:ptCount val="34"/>
                <c:pt idx="0">
                  <c:v>3</c:v>
                </c:pt>
                <c:pt idx="1">
                  <c:v>3.025641025641026</c:v>
                </c:pt>
                <c:pt idx="2">
                  <c:v>3.0526315789473686</c:v>
                </c:pt>
                <c:pt idx="3">
                  <c:v>3.0810810810810811</c:v>
                </c:pt>
                <c:pt idx="4">
                  <c:v>3.1111111111111112</c:v>
                </c:pt>
                <c:pt idx="5">
                  <c:v>3.1428571428571428</c:v>
                </c:pt>
                <c:pt idx="6">
                  <c:v>3.1764705882352944</c:v>
                </c:pt>
                <c:pt idx="7">
                  <c:v>3.2121212121212124</c:v>
                </c:pt>
                <c:pt idx="8">
                  <c:v>3.25</c:v>
                </c:pt>
                <c:pt idx="9">
                  <c:v>3.290322580645161</c:v>
                </c:pt>
                <c:pt idx="10">
                  <c:v>3.3333333333333335</c:v>
                </c:pt>
                <c:pt idx="11">
                  <c:v>3.3793103448275863</c:v>
                </c:pt>
                <c:pt idx="12">
                  <c:v>3.4285714285714288</c:v>
                </c:pt>
                <c:pt idx="13">
                  <c:v>3.4814814814814814</c:v>
                </c:pt>
                <c:pt idx="14">
                  <c:v>3.5384615384615383</c:v>
                </c:pt>
                <c:pt idx="15">
                  <c:v>3.6</c:v>
                </c:pt>
                <c:pt idx="16">
                  <c:v>3.666666666666667</c:v>
                </c:pt>
                <c:pt idx="17">
                  <c:v>3.7391304347826089</c:v>
                </c:pt>
                <c:pt idx="18">
                  <c:v>3.8181818181818179</c:v>
                </c:pt>
                <c:pt idx="19">
                  <c:v>3.9047619047619047</c:v>
                </c:pt>
                <c:pt idx="20">
                  <c:v>4</c:v>
                </c:pt>
                <c:pt idx="21">
                  <c:v>4.1052631578947372</c:v>
                </c:pt>
                <c:pt idx="22">
                  <c:v>4.2222222222222223</c:v>
                </c:pt>
                <c:pt idx="23">
                  <c:v>4.3529411764705879</c:v>
                </c:pt>
                <c:pt idx="24">
                  <c:v>4.5</c:v>
                </c:pt>
                <c:pt idx="25">
                  <c:v>4.6666666666666661</c:v>
                </c:pt>
                <c:pt idx="26">
                  <c:v>4.8571428571428577</c:v>
                </c:pt>
                <c:pt idx="27">
                  <c:v>5.0769230769230775</c:v>
                </c:pt>
                <c:pt idx="28">
                  <c:v>5.333333333333333</c:v>
                </c:pt>
                <c:pt idx="29">
                  <c:v>5.6363636363636358</c:v>
                </c:pt>
                <c:pt idx="30">
                  <c:v>6</c:v>
                </c:pt>
                <c:pt idx="31">
                  <c:v>6.4444444444444455</c:v>
                </c:pt>
                <c:pt idx="32">
                  <c:v>7.0000000000000009</c:v>
                </c:pt>
                <c:pt idx="33">
                  <c:v>7.7142857142857126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851-4655-91D7-29E8D9327F07}"/>
            </c:ext>
          </c:extLst>
        </c:ser>
        <c:ser>
          <c:idx val="1"/>
          <c:order val="1"/>
          <c:tx>
            <c:v>n=2</c:v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Foglio1!$G$40:$G$73</c:f>
              <c:numCache>
                <c:formatCode>General</c:formatCode>
                <c:ptCount val="34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</c:numCache>
            </c:numRef>
          </c:xVal>
          <c:yVal>
            <c:numRef>
              <c:f>Foglio1!$J$40:$J$73</c:f>
              <c:numCache>
                <c:formatCode>General</c:formatCode>
                <c:ptCount val="34"/>
                <c:pt idx="0">
                  <c:v>4</c:v>
                </c:pt>
                <c:pt idx="1">
                  <c:v>4.0256410256410255</c:v>
                </c:pt>
                <c:pt idx="2">
                  <c:v>4.0526315789473681</c:v>
                </c:pt>
                <c:pt idx="3">
                  <c:v>4.0810810810810807</c:v>
                </c:pt>
                <c:pt idx="4">
                  <c:v>4.1111111111111107</c:v>
                </c:pt>
                <c:pt idx="5">
                  <c:v>4.1428571428571423</c:v>
                </c:pt>
                <c:pt idx="6">
                  <c:v>4.1764705882352944</c:v>
                </c:pt>
                <c:pt idx="7">
                  <c:v>4.2121212121212128</c:v>
                </c:pt>
                <c:pt idx="8">
                  <c:v>4.25</c:v>
                </c:pt>
                <c:pt idx="9">
                  <c:v>4.290322580645161</c:v>
                </c:pt>
                <c:pt idx="10">
                  <c:v>4.3333333333333339</c:v>
                </c:pt>
                <c:pt idx="11">
                  <c:v>4.3793103448275863</c:v>
                </c:pt>
                <c:pt idx="12">
                  <c:v>4.4285714285714288</c:v>
                </c:pt>
                <c:pt idx="13">
                  <c:v>4.481481481481481</c:v>
                </c:pt>
                <c:pt idx="14">
                  <c:v>4.5384615384615383</c:v>
                </c:pt>
                <c:pt idx="15">
                  <c:v>4.5999999999999996</c:v>
                </c:pt>
                <c:pt idx="16">
                  <c:v>4.666666666666667</c:v>
                </c:pt>
                <c:pt idx="17">
                  <c:v>4.7391304347826093</c:v>
                </c:pt>
                <c:pt idx="18">
                  <c:v>4.8181818181818183</c:v>
                </c:pt>
                <c:pt idx="19">
                  <c:v>4.9047619047619051</c:v>
                </c:pt>
                <c:pt idx="20">
                  <c:v>5</c:v>
                </c:pt>
                <c:pt idx="21">
                  <c:v>5.1052631578947372</c:v>
                </c:pt>
                <c:pt idx="22">
                  <c:v>5.2222222222222223</c:v>
                </c:pt>
                <c:pt idx="23">
                  <c:v>5.3529411764705879</c:v>
                </c:pt>
                <c:pt idx="24">
                  <c:v>5.5</c:v>
                </c:pt>
                <c:pt idx="25">
                  <c:v>5.6666666666666661</c:v>
                </c:pt>
                <c:pt idx="26">
                  <c:v>5.8571428571428577</c:v>
                </c:pt>
                <c:pt idx="27">
                  <c:v>6.0769230769230775</c:v>
                </c:pt>
                <c:pt idx="28">
                  <c:v>6.333333333333333</c:v>
                </c:pt>
                <c:pt idx="29">
                  <c:v>6.6363636363636358</c:v>
                </c:pt>
                <c:pt idx="30">
                  <c:v>7</c:v>
                </c:pt>
                <c:pt idx="31">
                  <c:v>7.4444444444444455</c:v>
                </c:pt>
                <c:pt idx="32">
                  <c:v>8</c:v>
                </c:pt>
                <c:pt idx="33">
                  <c:v>8.7142857142857117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851-4655-91D7-29E8D9327F07}"/>
            </c:ext>
          </c:extLst>
        </c:ser>
        <c:ser>
          <c:idx val="2"/>
          <c:order val="2"/>
          <c:tx>
            <c:v>n=3</c:v>
          </c:tx>
          <c:spPr>
            <a:ln w="127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Foglio1!$L$40:$L$73</c:f>
              <c:numCache>
                <c:formatCode>General</c:formatCode>
                <c:ptCount val="34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</c:numCache>
            </c:numRef>
          </c:xVal>
          <c:yVal>
            <c:numRef>
              <c:f>Foglio1!$O$40:$O$73</c:f>
              <c:numCache>
                <c:formatCode>General</c:formatCode>
                <c:ptCount val="34"/>
                <c:pt idx="0">
                  <c:v>5</c:v>
                </c:pt>
                <c:pt idx="1">
                  <c:v>5.0256410256410255</c:v>
                </c:pt>
                <c:pt idx="2">
                  <c:v>5.0526315789473681</c:v>
                </c:pt>
                <c:pt idx="3">
                  <c:v>5.0810810810810807</c:v>
                </c:pt>
                <c:pt idx="4">
                  <c:v>5.1111111111111107</c:v>
                </c:pt>
                <c:pt idx="5">
                  <c:v>5.1428571428571423</c:v>
                </c:pt>
                <c:pt idx="6">
                  <c:v>5.1764705882352944</c:v>
                </c:pt>
                <c:pt idx="7">
                  <c:v>5.2121212121212128</c:v>
                </c:pt>
                <c:pt idx="8">
                  <c:v>5.25</c:v>
                </c:pt>
                <c:pt idx="9">
                  <c:v>5.290322580645161</c:v>
                </c:pt>
                <c:pt idx="10">
                  <c:v>5.3333333333333339</c:v>
                </c:pt>
                <c:pt idx="11">
                  <c:v>5.3793103448275863</c:v>
                </c:pt>
                <c:pt idx="12">
                  <c:v>5.4285714285714288</c:v>
                </c:pt>
                <c:pt idx="13">
                  <c:v>5.481481481481481</c:v>
                </c:pt>
                <c:pt idx="14">
                  <c:v>5.5384615384615383</c:v>
                </c:pt>
                <c:pt idx="15">
                  <c:v>5.6</c:v>
                </c:pt>
                <c:pt idx="16">
                  <c:v>5.666666666666667</c:v>
                </c:pt>
                <c:pt idx="17">
                  <c:v>5.7391304347826093</c:v>
                </c:pt>
                <c:pt idx="18">
                  <c:v>5.8181818181818183</c:v>
                </c:pt>
                <c:pt idx="19">
                  <c:v>5.9047619047619051</c:v>
                </c:pt>
                <c:pt idx="20">
                  <c:v>6</c:v>
                </c:pt>
                <c:pt idx="21">
                  <c:v>6.1052631578947372</c:v>
                </c:pt>
                <c:pt idx="22">
                  <c:v>6.2222222222222223</c:v>
                </c:pt>
                <c:pt idx="23">
                  <c:v>6.3529411764705879</c:v>
                </c:pt>
                <c:pt idx="24">
                  <c:v>6.5</c:v>
                </c:pt>
                <c:pt idx="25">
                  <c:v>6.6666666666666661</c:v>
                </c:pt>
                <c:pt idx="26">
                  <c:v>6.8571428571428577</c:v>
                </c:pt>
                <c:pt idx="27">
                  <c:v>7.0769230769230775</c:v>
                </c:pt>
                <c:pt idx="28">
                  <c:v>7.333333333333333</c:v>
                </c:pt>
                <c:pt idx="29">
                  <c:v>7.6363636363636358</c:v>
                </c:pt>
                <c:pt idx="30">
                  <c:v>8</c:v>
                </c:pt>
                <c:pt idx="31">
                  <c:v>8.4444444444444464</c:v>
                </c:pt>
                <c:pt idx="32">
                  <c:v>9</c:v>
                </c:pt>
                <c:pt idx="33">
                  <c:v>9.7142857142857117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8851-4655-91D7-29E8D9327F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20397152"/>
        <c:axId val="630408544"/>
      </c:scatterChart>
      <c:valAx>
        <c:axId val="620397152"/>
        <c:scaling>
          <c:orientation val="minMax"/>
          <c:max val="0.8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sz="1600" dirty="0"/>
                  <a:t>Duty</a:t>
                </a:r>
                <a:r>
                  <a:rPr lang="it-IT" sz="1600" baseline="0" dirty="0"/>
                  <a:t> </a:t>
                </a:r>
                <a:r>
                  <a:rPr lang="it-IT" sz="1600" baseline="0" dirty="0" err="1"/>
                  <a:t>cycle</a:t>
                </a:r>
                <a:endParaRPr lang="it-IT" sz="1600" dirty="0"/>
              </a:p>
            </c:rich>
          </c:tx>
          <c:layout>
            <c:manualLayout>
              <c:xMode val="edge"/>
              <c:yMode val="edge"/>
              <c:x val="0.43546827479898353"/>
              <c:y val="0.92213857660855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30408544"/>
        <c:crosses val="autoZero"/>
        <c:crossBetween val="midCat"/>
      </c:valAx>
      <c:valAx>
        <c:axId val="630408544"/>
        <c:scaling>
          <c:orientation val="minMax"/>
          <c:max val="10"/>
          <c:min val="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sz="1600" b="0" i="0" baseline="0">
                    <a:effectLst/>
                  </a:rPr>
                  <a:t>V</a:t>
                </a:r>
                <a:r>
                  <a:rPr lang="it-IT" sz="1600" b="0" i="0" baseline="-25000">
                    <a:effectLst/>
                  </a:rPr>
                  <a:t>o</a:t>
                </a:r>
                <a:r>
                  <a:rPr lang="it-IT" sz="1600" b="0" i="0" baseline="0">
                    <a:effectLst/>
                  </a:rPr>
                  <a:t>/V</a:t>
                </a:r>
                <a:r>
                  <a:rPr lang="it-IT" sz="1600" b="0" i="0" baseline="-25000">
                    <a:effectLst/>
                  </a:rPr>
                  <a:t>i</a:t>
                </a:r>
                <a:endParaRPr lang="it-IT" sz="1600">
                  <a:effectLst/>
                </a:endParaRPr>
              </a:p>
            </c:rich>
          </c:tx>
          <c:layout>
            <c:manualLayout>
              <c:xMode val="edge"/>
              <c:yMode val="edge"/>
              <c:x val="1.9476766252182337E-2"/>
              <c:y val="0.4147358336699269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2039715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191707642405256"/>
          <c:y val="0.41128340585008216"/>
          <c:w val="0.1780350076622578"/>
          <c:h val="0.226681412875088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800" dirty="0"/>
              <a:t>Guadagno del circuito in funzione del duty </a:t>
            </a:r>
            <a:r>
              <a:rPr lang="it-IT" sz="1800" dirty="0" err="1"/>
              <a:t>cycle</a:t>
            </a:r>
            <a:endParaRPr lang="it-IT" sz="1800" dirty="0"/>
          </a:p>
          <a:p>
            <a:pPr>
              <a:defRPr sz="1800"/>
            </a:pPr>
            <a:r>
              <a:rPr lang="it-IT" sz="1800" dirty="0"/>
              <a:t>k=0,997 n=3</a:t>
            </a:r>
          </a:p>
        </c:rich>
      </c:tx>
      <c:layout>
        <c:manualLayout>
          <c:xMode val="edge"/>
          <c:yMode val="edge"/>
          <c:x val="0.17182865274629303"/>
          <c:y val="2.742525505411342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>
        <c:manualLayout>
          <c:layoutTarget val="inner"/>
          <c:xMode val="edge"/>
          <c:yMode val="edge"/>
          <c:x val="0.12940242607263289"/>
          <c:y val="0.18492324038769592"/>
          <c:w val="0.8427738179302503"/>
          <c:h val="0.65009207916861478"/>
        </c:manualLayout>
      </c:layout>
      <c:scatterChart>
        <c:scatterStyle val="lineMarker"/>
        <c:varyColors val="0"/>
        <c:ser>
          <c:idx val="0"/>
          <c:order val="0"/>
          <c:tx>
            <c:v>Guadagno sperimentale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1.2004801920768308E-2"/>
                  <c:y val="3.76647834274951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87D-406C-82EA-B8C4A3D190E8}"/>
                </c:ext>
              </c:extLst>
            </c:dLbl>
            <c:dLbl>
              <c:idx val="1"/>
              <c:layout>
                <c:manualLayout>
                  <c:x val="-6.0024009603841903E-3"/>
                  <c:y val="5.021971123666027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075022134838187E-2"/>
                      <c:h val="5.64502177340826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87D-406C-82EA-B8C4A3D190E8}"/>
                </c:ext>
              </c:extLst>
            </c:dLbl>
            <c:dLbl>
              <c:idx val="2"/>
              <c:layout>
                <c:manualLayout>
                  <c:x val="-2.2008803521408635E-2"/>
                  <c:y val="5.33584431889516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87D-406C-82EA-B8C4A3D190E8}"/>
                </c:ext>
              </c:extLst>
            </c:dLbl>
            <c:dLbl>
              <c:idx val="3"/>
              <c:layout>
                <c:manualLayout>
                  <c:x val="8.0032012805122052E-3"/>
                  <c:y val="5.64971751412429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87D-406C-82EA-B8C4A3D190E8}"/>
                </c:ext>
              </c:extLst>
            </c:dLbl>
            <c:dLbl>
              <c:idx val="4"/>
              <c:layout>
                <c:manualLayout>
                  <c:x val="-5.6022408963585582E-2"/>
                  <c:y val="7.84682988072818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87D-406C-82EA-B8C4A3D190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Foglio1!$B$3:$B$7</c:f>
              <c:numCache>
                <c:formatCode>General</c:formatCode>
                <c:ptCount val="5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</c:numCache>
            </c:numRef>
          </c:xVal>
          <c:yVal>
            <c:numRef>
              <c:f>Foglio1!$C$3:$C$7</c:f>
              <c:numCache>
                <c:formatCode>General</c:formatCode>
                <c:ptCount val="5"/>
                <c:pt idx="0">
                  <c:v>3.57</c:v>
                </c:pt>
                <c:pt idx="1">
                  <c:v>4.5999999999999996</c:v>
                </c:pt>
                <c:pt idx="2">
                  <c:v>5.0999999999999996</c:v>
                </c:pt>
                <c:pt idx="3">
                  <c:v>5.35</c:v>
                </c:pt>
                <c:pt idx="4">
                  <c:v>5.75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487D-406C-82EA-B8C4A3D190E8}"/>
            </c:ext>
          </c:extLst>
        </c:ser>
        <c:ser>
          <c:idx val="1"/>
          <c:order val="1"/>
          <c:tx>
            <c:v>Guadagno ideale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Foglio1!$B$3:$B$7</c:f>
              <c:numCache>
                <c:formatCode>General</c:formatCode>
                <c:ptCount val="5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</c:numCache>
            </c:numRef>
          </c:xVal>
          <c:yVal>
            <c:numRef>
              <c:f>Foglio1!$D$3:$D$7</c:f>
              <c:numCache>
                <c:formatCode>General</c:formatCode>
                <c:ptCount val="5"/>
                <c:pt idx="0">
                  <c:v>5.1021111111111113</c:v>
                </c:pt>
                <c:pt idx="1">
                  <c:v>5.2409999999999997</c:v>
                </c:pt>
                <c:pt idx="2">
                  <c:v>5.4195714285714285</c:v>
                </c:pt>
                <c:pt idx="3">
                  <c:v>5.6576666666666675</c:v>
                </c:pt>
                <c:pt idx="4">
                  <c:v>5.9909999999999997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487D-406C-82EA-B8C4A3D190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06353023"/>
        <c:axId val="918480367"/>
      </c:scatterChart>
      <c:valAx>
        <c:axId val="806353023"/>
        <c:scaling>
          <c:orientation val="minMax"/>
          <c:max val="0.5"/>
          <c:min val="0.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sz="1600"/>
                  <a:t>Duty cycle</a:t>
                </a:r>
              </a:p>
            </c:rich>
          </c:tx>
          <c:layout>
            <c:manualLayout>
              <c:xMode val="edge"/>
              <c:yMode val="edge"/>
              <c:x val="0.48170482068119863"/>
              <c:y val="0.934396254522238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18480367"/>
        <c:crosses val="autoZero"/>
        <c:crossBetween val="midCat"/>
      </c:valAx>
      <c:valAx>
        <c:axId val="918480367"/>
        <c:scaling>
          <c:orientation val="minMax"/>
          <c:min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sz="1600"/>
                  <a:t>Guadagno</a:t>
                </a:r>
              </a:p>
            </c:rich>
          </c:tx>
          <c:layout>
            <c:manualLayout>
              <c:xMode val="edge"/>
              <c:yMode val="edge"/>
              <c:x val="4.3189904615976247E-3"/>
              <c:y val="0.3931826781152686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0635302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4813918190274911"/>
          <c:y val="0.55720913371114345"/>
          <c:w val="0.27450050886496336"/>
          <c:h val="0.289176935219721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600807161725859"/>
          <c:y val="2.5854293456395144E-2"/>
          <c:w val="0.83619724097446435"/>
          <c:h val="0.84371379046002781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7878787878787894E-2"/>
                  <c:y val="-4.01606425702811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31A-46CB-B443-16A5A8BE9445}"/>
                </c:ext>
              </c:extLst>
            </c:dLbl>
            <c:dLbl>
              <c:idx val="1"/>
              <c:layout>
                <c:manualLayout>
                  <c:x val="-3.9772727272727237E-2"/>
                  <c:y val="-4.3507362784471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31A-46CB-B443-16A5A8BE9445}"/>
                </c:ext>
              </c:extLst>
            </c:dLbl>
            <c:dLbl>
              <c:idx val="2"/>
              <c:layout>
                <c:manualLayout>
                  <c:x val="-4.1666666666666734E-2"/>
                  <c:y val="-4.01606425702811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1A-46CB-B443-16A5A8BE9445}"/>
                </c:ext>
              </c:extLst>
            </c:dLbl>
            <c:dLbl>
              <c:idx val="3"/>
              <c:layout>
                <c:manualLayout>
                  <c:x val="-4.1666666666666734E-2"/>
                  <c:y val="-4.01606425702811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31A-46CB-B443-16A5A8BE9445}"/>
                </c:ext>
              </c:extLst>
            </c:dLbl>
            <c:dLbl>
              <c:idx val="4"/>
              <c:layout>
                <c:manualLayout>
                  <c:x val="-3.9772727272727341E-2"/>
                  <c:y val="-3.68139223560910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31A-46CB-B443-16A5A8BE9445}"/>
                </c:ext>
              </c:extLst>
            </c:dLbl>
            <c:dLbl>
              <c:idx val="5"/>
              <c:layout>
                <c:manualLayout>
                  <c:x val="-3.9772727272727341E-2"/>
                  <c:y val="-3.6813922356091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31A-46CB-B443-16A5A8BE9445}"/>
                </c:ext>
              </c:extLst>
            </c:dLbl>
            <c:dLbl>
              <c:idx val="6"/>
              <c:layout>
                <c:manualLayout>
                  <c:x val="-3.787878787878788E-2"/>
                  <c:y val="-4.35073627844712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31A-46CB-B443-16A5A8BE9445}"/>
                </c:ext>
              </c:extLst>
            </c:dLbl>
            <c:dLbl>
              <c:idx val="7"/>
              <c:layout>
                <c:manualLayout>
                  <c:x val="-3.9772727272727272E-2"/>
                  <c:y val="-4.01606425702811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31A-46CB-B443-16A5A8BE9445}"/>
                </c:ext>
              </c:extLst>
            </c:dLbl>
            <c:dLbl>
              <c:idx val="8"/>
              <c:layout>
                <c:manualLayout>
                  <c:x val="-3.9772727272727272E-2"/>
                  <c:y val="-3.68139223560910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31A-46CB-B443-16A5A8BE94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6"/>
            <c:dispRSqr val="0"/>
            <c:dispEq val="0"/>
          </c:trendline>
          <c:xVal>
            <c:numRef>
              <c:f>Foglio1!$A$3:$A$11</c:f>
              <c:numCache>
                <c:formatCode>General</c:formatCod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numCache>
            </c:numRef>
          </c:xVal>
          <c:yVal>
            <c:numRef>
              <c:f>Foglio1!$G$3:$G$11</c:f>
              <c:numCache>
                <c:formatCode>0.00</c:formatCode>
                <c:ptCount val="9"/>
                <c:pt idx="0">
                  <c:v>21.743861166310939</c:v>
                </c:pt>
                <c:pt idx="1">
                  <c:v>35.161669246568479</c:v>
                </c:pt>
                <c:pt idx="2">
                  <c:v>44.56280222313287</c:v>
                </c:pt>
                <c:pt idx="3">
                  <c:v>51.437400834450905</c:v>
                </c:pt>
                <c:pt idx="4">
                  <c:v>56.672144747988128</c:v>
                </c:pt>
                <c:pt idx="5">
                  <c:v>60.773807889405326</c:v>
                </c:pt>
                <c:pt idx="6">
                  <c:v>64.066295619745048</c:v>
                </c:pt>
                <c:pt idx="7">
                  <c:v>66.775577334230391</c:v>
                </c:pt>
                <c:pt idx="8">
                  <c:v>69.006259945481446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831A-46CB-B443-16A5A8BE94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05314639"/>
        <c:axId val="1798730719"/>
      </c:scatterChart>
      <c:valAx>
        <c:axId val="18053146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sz="1800">
                    <a:solidFill>
                      <a:schemeClr val="accent1">
                        <a:lumMod val="75000"/>
                      </a:schemeClr>
                    </a:solidFill>
                  </a:rPr>
                  <a:t>Iout (A)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accen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798730719"/>
        <c:crosses val="autoZero"/>
        <c:crossBetween val="midCat"/>
      </c:valAx>
      <c:valAx>
        <c:axId val="1798730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>
                    <a:solidFill>
                      <a:schemeClr val="accent1">
                        <a:lumMod val="75000"/>
                      </a:schemeClr>
                    </a:solidFill>
                  </a:rPr>
                  <a:t>Efficienza (%)</a:t>
                </a:r>
              </a:p>
            </c:rich>
          </c:tx>
          <c:layout>
            <c:manualLayout>
              <c:xMode val="edge"/>
              <c:yMode val="edge"/>
              <c:x val="2.108893454652186E-4"/>
              <c:y val="0.3033074792329332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accen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053146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575048947729759E-2"/>
          <c:y val="3.0323727801248226E-2"/>
          <c:w val="0.87168688144337181"/>
          <c:h val="0.8168313204242512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Foglio1!$A$2:$A$16</c:f>
              <c:numCache>
                <c:formatCode>General</c:formatCode>
                <c:ptCount val="15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250</c:v>
                </c:pt>
                <c:pt idx="4">
                  <c:v>300</c:v>
                </c:pt>
                <c:pt idx="5">
                  <c:v>350</c:v>
                </c:pt>
                <c:pt idx="6">
                  <c:v>400</c:v>
                </c:pt>
                <c:pt idx="7">
                  <c:v>450</c:v>
                </c:pt>
                <c:pt idx="8">
                  <c:v>500</c:v>
                </c:pt>
                <c:pt idx="9">
                  <c:v>550</c:v>
                </c:pt>
                <c:pt idx="10">
                  <c:v>600</c:v>
                </c:pt>
                <c:pt idx="11">
                  <c:v>700</c:v>
                </c:pt>
                <c:pt idx="12">
                  <c:v>800</c:v>
                </c:pt>
                <c:pt idx="13">
                  <c:v>900</c:v>
                </c:pt>
                <c:pt idx="14">
                  <c:v>1000</c:v>
                </c:pt>
              </c:numCache>
            </c:numRef>
          </c:xVal>
          <c:yVal>
            <c:numRef>
              <c:f>Foglio1!$G$2:$G$19</c:f>
              <c:numCache>
                <c:formatCode>General</c:formatCode>
                <c:ptCount val="18"/>
                <c:pt idx="0">
                  <c:v>5.7615999999999996</c:v>
                </c:pt>
                <c:pt idx="1">
                  <c:v>5.8155999999999999</c:v>
                </c:pt>
                <c:pt idx="2">
                  <c:v>5.7328000000000001</c:v>
                </c:pt>
                <c:pt idx="3">
                  <c:v>5.6116000000000001</c:v>
                </c:pt>
                <c:pt idx="4">
                  <c:v>5.8639999999999999</c:v>
                </c:pt>
                <c:pt idx="5">
                  <c:v>5.6176000000000004</c:v>
                </c:pt>
                <c:pt idx="6">
                  <c:v>5.5771999999999995</c:v>
                </c:pt>
                <c:pt idx="7">
                  <c:v>5.5052000000000003</c:v>
                </c:pt>
                <c:pt idx="8">
                  <c:v>5.8635999999999999</c:v>
                </c:pt>
                <c:pt idx="9">
                  <c:v>5.3515999999999995</c:v>
                </c:pt>
                <c:pt idx="10">
                  <c:v>5.7944000000000004</c:v>
                </c:pt>
                <c:pt idx="11">
                  <c:v>5.3351999999999995</c:v>
                </c:pt>
                <c:pt idx="12">
                  <c:v>5.9555999999999996</c:v>
                </c:pt>
                <c:pt idx="13">
                  <c:v>5.5247999999999999</c:v>
                </c:pt>
                <c:pt idx="14">
                  <c:v>5.4047999999999998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890-47DD-AFC7-0E2AC55952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07715487"/>
        <c:axId val="1892367935"/>
      </c:scatterChart>
      <c:valAx>
        <c:axId val="2107715487"/>
        <c:scaling>
          <c:orientation val="minMax"/>
          <c:max val="1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sz="1600"/>
                  <a:t>Frequenza (kHz)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92367935"/>
        <c:crosses val="autoZero"/>
        <c:crossBetween val="midCat"/>
      </c:valAx>
      <c:valAx>
        <c:axId val="1892367935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sz="1600"/>
                  <a:t>Guadagno di tensione</a:t>
                </a:r>
              </a:p>
            </c:rich>
          </c:tx>
          <c:layout>
            <c:manualLayout>
              <c:xMode val="edge"/>
              <c:yMode val="edge"/>
              <c:x val="0"/>
              <c:y val="0.2385849191054084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210771548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694888317926321"/>
          <c:y val="3.5678541792287272E-2"/>
          <c:w val="0.82688654476739698"/>
          <c:h val="0.82954171546644151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Foglio1!$A$2:$A$16</c:f>
              <c:numCache>
                <c:formatCode>General</c:formatCode>
                <c:ptCount val="15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250</c:v>
                </c:pt>
                <c:pt idx="4">
                  <c:v>300</c:v>
                </c:pt>
                <c:pt idx="5">
                  <c:v>350</c:v>
                </c:pt>
                <c:pt idx="6">
                  <c:v>400</c:v>
                </c:pt>
                <c:pt idx="7">
                  <c:v>450</c:v>
                </c:pt>
                <c:pt idx="8">
                  <c:v>500</c:v>
                </c:pt>
                <c:pt idx="9">
                  <c:v>550</c:v>
                </c:pt>
                <c:pt idx="10">
                  <c:v>600</c:v>
                </c:pt>
                <c:pt idx="11">
                  <c:v>700</c:v>
                </c:pt>
                <c:pt idx="12">
                  <c:v>800</c:v>
                </c:pt>
                <c:pt idx="13">
                  <c:v>900</c:v>
                </c:pt>
                <c:pt idx="14">
                  <c:v>1000</c:v>
                </c:pt>
              </c:numCache>
            </c:numRef>
          </c:xVal>
          <c:yVal>
            <c:numRef>
              <c:f>Foglio1!$H$2:$H$16</c:f>
              <c:numCache>
                <c:formatCode>0.00</c:formatCode>
                <c:ptCount val="15"/>
                <c:pt idx="0">
                  <c:v>51.552740302661327</c:v>
                </c:pt>
                <c:pt idx="1">
                  <c:v>42.433082273589548</c:v>
                </c:pt>
                <c:pt idx="2">
                  <c:v>35.381125942002775</c:v>
                </c:pt>
                <c:pt idx="3">
                  <c:v>29.788030299819901</c:v>
                </c:pt>
                <c:pt idx="4">
                  <c:v>28.058031618386181</c:v>
                </c:pt>
                <c:pt idx="5">
                  <c:v>23.847875745905455</c:v>
                </c:pt>
                <c:pt idx="6">
                  <c:v>21.481429778018406</c:v>
                </c:pt>
                <c:pt idx="7">
                  <c:v>19.017875704547052</c:v>
                </c:pt>
                <c:pt idx="8">
                  <c:v>19.783391525696796</c:v>
                </c:pt>
                <c:pt idx="9">
                  <c:v>15.922672013449981</c:v>
                </c:pt>
                <c:pt idx="10">
                  <c:v>16.982878735518227</c:v>
                </c:pt>
                <c:pt idx="11">
                  <c:v>13.167521819547703</c:v>
                </c:pt>
                <c:pt idx="12">
                  <c:v>14.451777671298514</c:v>
                </c:pt>
                <c:pt idx="13">
                  <c:v>11.768037515383119</c:v>
                </c:pt>
                <c:pt idx="14">
                  <c:v>10.374885483004833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49A-4DAB-8168-D68570F34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07711887"/>
        <c:axId val="1892366687"/>
      </c:scatterChart>
      <c:valAx>
        <c:axId val="2107711887"/>
        <c:scaling>
          <c:orientation val="minMax"/>
          <c:max val="1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sz="1600"/>
                  <a:t>Frequenza (kHz)</a:t>
                </a:r>
              </a:p>
            </c:rich>
          </c:tx>
          <c:layout>
            <c:manualLayout>
              <c:xMode val="edge"/>
              <c:yMode val="edge"/>
              <c:x val="0.48858708051216593"/>
              <c:y val="0.936616091300155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92366687"/>
        <c:crosses val="autoZero"/>
        <c:crossBetween val="midCat"/>
      </c:valAx>
      <c:valAx>
        <c:axId val="1892366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sz="1600"/>
                  <a:t>Efficienza (%)</a:t>
                </a:r>
              </a:p>
            </c:rich>
          </c:tx>
          <c:layout>
            <c:manualLayout>
              <c:xMode val="edge"/>
              <c:yMode val="edge"/>
              <c:x val="1.0280993222871491E-2"/>
              <c:y val="0.314528823588570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210771188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237878935896169"/>
          <c:y val="2.5854293456395144E-2"/>
          <c:w val="0.81278812071716611"/>
          <c:h val="0.72978095650776809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6"/>
            <c:dispRSqr val="0"/>
            <c:dispEq val="0"/>
          </c:trendline>
          <c:xVal>
            <c:numRef>
              <c:f>Foglio1!$A$3:$A$11</c:f>
              <c:numCache>
                <c:formatCode>General</c:formatCod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numCache>
            </c:numRef>
          </c:xVal>
          <c:yVal>
            <c:numRef>
              <c:f>Foglio1!$G$3:$G$11</c:f>
              <c:numCache>
                <c:formatCode>0.00</c:formatCode>
                <c:ptCount val="9"/>
                <c:pt idx="0">
                  <c:v>21.743861166310939</c:v>
                </c:pt>
                <c:pt idx="1">
                  <c:v>35.161669246568479</c:v>
                </c:pt>
                <c:pt idx="2">
                  <c:v>44.56280222313287</c:v>
                </c:pt>
                <c:pt idx="3">
                  <c:v>51.437400834450905</c:v>
                </c:pt>
                <c:pt idx="4">
                  <c:v>56.672144747988128</c:v>
                </c:pt>
                <c:pt idx="5">
                  <c:v>60.773807889405326</c:v>
                </c:pt>
                <c:pt idx="6">
                  <c:v>64.066295619745048</c:v>
                </c:pt>
                <c:pt idx="7">
                  <c:v>66.775577334230391</c:v>
                </c:pt>
                <c:pt idx="8">
                  <c:v>69.006259945481446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5C35-4FF9-9275-F7E2ADBE31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05314639"/>
        <c:axId val="1798730719"/>
      </c:scatterChart>
      <c:valAx>
        <c:axId val="18053146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sz="1400" dirty="0">
                    <a:solidFill>
                      <a:schemeClr val="accent1">
                        <a:lumMod val="75000"/>
                      </a:schemeClr>
                    </a:solidFill>
                  </a:rPr>
                  <a:t>Io (A)</a:t>
                </a:r>
              </a:p>
            </c:rich>
          </c:tx>
          <c:layout>
            <c:manualLayout>
              <c:xMode val="edge"/>
              <c:yMode val="edge"/>
              <c:x val="0.50542515348517902"/>
              <c:y val="0.8757781423904417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accen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798730719"/>
        <c:crosses val="autoZero"/>
        <c:crossBetween val="midCat"/>
      </c:valAx>
      <c:valAx>
        <c:axId val="1798730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>
                    <a:solidFill>
                      <a:schemeClr val="accent1">
                        <a:lumMod val="75000"/>
                      </a:schemeClr>
                    </a:solidFill>
                  </a:rPr>
                  <a:t>Efficienza (%)</a:t>
                </a:r>
              </a:p>
            </c:rich>
          </c:tx>
          <c:layout>
            <c:manualLayout>
              <c:xMode val="edge"/>
              <c:yMode val="edge"/>
              <c:x val="0"/>
              <c:y val="0.1610921501706484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accen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053146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8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8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8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8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Relationship Id="rId7" Type="http://schemas.openxmlformats.org/officeDocument/2006/relationships/image" Target="../media/image24.png"/><Relationship Id="rId8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9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Relationship Id="rId7" Type="http://schemas.openxmlformats.org/officeDocument/2006/relationships/image" Target="../media/image24.png"/><Relationship Id="rId8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Relationship Id="rId6" Type="http://schemas.openxmlformats.org/officeDocument/2006/relationships/image" Target="../media/image5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Relationship Id="rId6" Type="http://schemas.openxmlformats.org/officeDocument/2006/relationships/image" Target="../media/image57.png"/><Relationship Id="rId7" Type="http://schemas.openxmlformats.org/officeDocument/2006/relationships/image" Target="../media/image46.png"/><Relationship Id="rId8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8.png"/><Relationship Id="rId4" Type="http://schemas.openxmlformats.org/officeDocument/2006/relationships/image" Target="../media/image4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Relationship Id="rId4" Type="http://schemas.openxmlformats.org/officeDocument/2006/relationships/image" Target="../media/image45.png"/><Relationship Id="rId5" Type="http://schemas.openxmlformats.org/officeDocument/2006/relationships/image" Target="../media/image51.png"/><Relationship Id="rId6" Type="http://schemas.openxmlformats.org/officeDocument/2006/relationships/image" Target="../media/image5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8.png"/><Relationship Id="rId4" Type="http://schemas.openxmlformats.org/officeDocument/2006/relationships/image" Target="../media/image44.png"/><Relationship Id="rId5" Type="http://schemas.openxmlformats.org/officeDocument/2006/relationships/image" Target="../media/image50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9.png"/><Relationship Id="rId4" Type="http://schemas.openxmlformats.org/officeDocument/2006/relationships/image" Target="../media/image69.png"/><Relationship Id="rId5" Type="http://schemas.openxmlformats.org/officeDocument/2006/relationships/image" Target="../media/image60.png"/><Relationship Id="rId6" Type="http://schemas.openxmlformats.org/officeDocument/2006/relationships/image" Target="../media/image59.png"/><Relationship Id="rId7" Type="http://schemas.openxmlformats.org/officeDocument/2006/relationships/image" Target="../media/image52.png"/><Relationship Id="rId8" Type="http://schemas.openxmlformats.org/officeDocument/2006/relationships/image" Target="../media/image6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2.png"/><Relationship Id="rId4" Type="http://schemas.openxmlformats.org/officeDocument/2006/relationships/image" Target="../media/image65.png"/><Relationship Id="rId5" Type="http://schemas.openxmlformats.org/officeDocument/2006/relationships/image" Target="../media/image73.png"/><Relationship Id="rId6" Type="http://schemas.openxmlformats.org/officeDocument/2006/relationships/image" Target="../media/image96.png"/><Relationship Id="rId7" Type="http://schemas.openxmlformats.org/officeDocument/2006/relationships/image" Target="../media/image6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7.png"/><Relationship Id="rId4" Type="http://schemas.openxmlformats.org/officeDocument/2006/relationships/image" Target="../media/image66.png"/><Relationship Id="rId5" Type="http://schemas.openxmlformats.org/officeDocument/2006/relationships/image" Target="../media/image72.png"/><Relationship Id="rId6" Type="http://schemas.openxmlformats.org/officeDocument/2006/relationships/image" Target="../media/image68.png"/><Relationship Id="rId7" Type="http://schemas.openxmlformats.org/officeDocument/2006/relationships/image" Target="../media/image95.png"/><Relationship Id="rId8" Type="http://schemas.openxmlformats.org/officeDocument/2006/relationships/image" Target="../media/image6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0.png"/><Relationship Id="rId4" Type="http://schemas.openxmlformats.org/officeDocument/2006/relationships/image" Target="../media/image79.png"/><Relationship Id="rId11" Type="http://schemas.openxmlformats.org/officeDocument/2006/relationships/image" Target="../media/image74.png"/><Relationship Id="rId10" Type="http://schemas.openxmlformats.org/officeDocument/2006/relationships/image" Target="../media/image85.png"/><Relationship Id="rId12" Type="http://schemas.openxmlformats.org/officeDocument/2006/relationships/image" Target="../media/image80.png"/><Relationship Id="rId9" Type="http://schemas.openxmlformats.org/officeDocument/2006/relationships/image" Target="../media/image77.png"/><Relationship Id="rId5" Type="http://schemas.openxmlformats.org/officeDocument/2006/relationships/image" Target="../media/image71.png"/><Relationship Id="rId6" Type="http://schemas.openxmlformats.org/officeDocument/2006/relationships/image" Target="../media/image82.png"/><Relationship Id="rId7" Type="http://schemas.openxmlformats.org/officeDocument/2006/relationships/image" Target="../media/image81.png"/><Relationship Id="rId8" Type="http://schemas.openxmlformats.org/officeDocument/2006/relationships/image" Target="../media/image7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2.png"/><Relationship Id="rId4" Type="http://schemas.openxmlformats.org/officeDocument/2006/relationships/image" Target="../media/image76.png"/><Relationship Id="rId5" Type="http://schemas.openxmlformats.org/officeDocument/2006/relationships/image" Target="../media/image94.png"/><Relationship Id="rId6" Type="http://schemas.openxmlformats.org/officeDocument/2006/relationships/image" Target="../media/image84.png"/><Relationship Id="rId7" Type="http://schemas.openxmlformats.org/officeDocument/2006/relationships/image" Target="../media/image8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6.png"/><Relationship Id="rId4" Type="http://schemas.openxmlformats.org/officeDocument/2006/relationships/image" Target="../media/image78.png"/><Relationship Id="rId5" Type="http://schemas.openxmlformats.org/officeDocument/2006/relationships/image" Target="../media/image8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8.png"/><Relationship Id="rId4" Type="http://schemas.openxmlformats.org/officeDocument/2006/relationships/image" Target="../media/image91.png"/><Relationship Id="rId5" Type="http://schemas.openxmlformats.org/officeDocument/2006/relationships/image" Target="../media/image9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8.png"/><Relationship Id="rId4" Type="http://schemas.openxmlformats.org/officeDocument/2006/relationships/image" Target="../media/image91.png"/><Relationship Id="rId5" Type="http://schemas.openxmlformats.org/officeDocument/2006/relationships/image" Target="../media/image90.png"/><Relationship Id="rId6" Type="http://schemas.openxmlformats.org/officeDocument/2006/relationships/image" Target="../media/image105.png"/><Relationship Id="rId7" Type="http://schemas.openxmlformats.org/officeDocument/2006/relationships/image" Target="../media/image10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9.png"/><Relationship Id="rId4" Type="http://schemas.openxmlformats.org/officeDocument/2006/relationships/image" Target="../media/image145.png"/><Relationship Id="rId5" Type="http://schemas.openxmlformats.org/officeDocument/2006/relationships/image" Target="../media/image9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9.png"/><Relationship Id="rId4" Type="http://schemas.openxmlformats.org/officeDocument/2006/relationships/image" Target="../media/image145.png"/><Relationship Id="rId9" Type="http://schemas.openxmlformats.org/officeDocument/2006/relationships/image" Target="../media/image106.png"/><Relationship Id="rId5" Type="http://schemas.openxmlformats.org/officeDocument/2006/relationships/image" Target="../media/image93.png"/><Relationship Id="rId6" Type="http://schemas.openxmlformats.org/officeDocument/2006/relationships/image" Target="../media/image102.png"/><Relationship Id="rId7" Type="http://schemas.openxmlformats.org/officeDocument/2006/relationships/image" Target="../media/image114.png"/><Relationship Id="rId8" Type="http://schemas.openxmlformats.org/officeDocument/2006/relationships/image" Target="../media/image10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9.png"/><Relationship Id="rId4" Type="http://schemas.openxmlformats.org/officeDocument/2006/relationships/image" Target="../media/image116.png"/><Relationship Id="rId5" Type="http://schemas.openxmlformats.org/officeDocument/2006/relationships/image" Target="../media/image119.png"/><Relationship Id="rId6" Type="http://schemas.openxmlformats.org/officeDocument/2006/relationships/image" Target="../media/image11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9.png"/><Relationship Id="rId4" Type="http://schemas.openxmlformats.org/officeDocument/2006/relationships/image" Target="../media/image116.png"/><Relationship Id="rId5" Type="http://schemas.openxmlformats.org/officeDocument/2006/relationships/image" Target="../media/image119.png"/><Relationship Id="rId6" Type="http://schemas.openxmlformats.org/officeDocument/2006/relationships/image" Target="../media/image118.png"/><Relationship Id="rId7" Type="http://schemas.openxmlformats.org/officeDocument/2006/relationships/image" Target="../media/image112.png"/><Relationship Id="rId8" Type="http://schemas.openxmlformats.org/officeDocument/2006/relationships/image" Target="../media/image12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3.png"/><Relationship Id="rId4" Type="http://schemas.openxmlformats.org/officeDocument/2006/relationships/image" Target="../media/image129.png"/><Relationship Id="rId5" Type="http://schemas.openxmlformats.org/officeDocument/2006/relationships/image" Target="../media/image12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3.png"/><Relationship Id="rId4" Type="http://schemas.openxmlformats.org/officeDocument/2006/relationships/image" Target="../media/image130.png"/><Relationship Id="rId5" Type="http://schemas.openxmlformats.org/officeDocument/2006/relationships/image" Target="../media/image139.png"/><Relationship Id="rId6" Type="http://schemas.openxmlformats.org/officeDocument/2006/relationships/image" Target="../media/image132.png"/><Relationship Id="rId7" Type="http://schemas.openxmlformats.org/officeDocument/2006/relationships/image" Target="../media/image121.png"/><Relationship Id="rId8" Type="http://schemas.openxmlformats.org/officeDocument/2006/relationships/image" Target="../media/image12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31.png"/><Relationship Id="rId4" Type="http://schemas.openxmlformats.org/officeDocument/2006/relationships/image" Target="../media/image126.png"/><Relationship Id="rId5" Type="http://schemas.openxmlformats.org/officeDocument/2006/relationships/image" Target="../media/image136.png"/><Relationship Id="rId6" Type="http://schemas.openxmlformats.org/officeDocument/2006/relationships/image" Target="../media/image128.png"/><Relationship Id="rId7" Type="http://schemas.openxmlformats.org/officeDocument/2006/relationships/image" Target="../media/image12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31.png"/><Relationship Id="rId4" Type="http://schemas.openxmlformats.org/officeDocument/2006/relationships/image" Target="../media/image126.png"/><Relationship Id="rId10" Type="http://schemas.openxmlformats.org/officeDocument/2006/relationships/image" Target="../media/image138.png"/><Relationship Id="rId9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28.png"/><Relationship Id="rId7" Type="http://schemas.openxmlformats.org/officeDocument/2006/relationships/image" Target="../media/image124.png"/><Relationship Id="rId8" Type="http://schemas.openxmlformats.org/officeDocument/2006/relationships/image" Target="../media/image14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47.png"/><Relationship Id="rId4" Type="http://schemas.openxmlformats.org/officeDocument/2006/relationships/image" Target="../media/image150.png"/><Relationship Id="rId5" Type="http://schemas.openxmlformats.org/officeDocument/2006/relationships/image" Target="../media/image14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52.png"/><Relationship Id="rId4" Type="http://schemas.openxmlformats.org/officeDocument/2006/relationships/image" Target="../media/image151.png"/><Relationship Id="rId5" Type="http://schemas.openxmlformats.org/officeDocument/2006/relationships/image" Target="../media/image141.png"/><Relationship Id="rId6" Type="http://schemas.openxmlformats.org/officeDocument/2006/relationships/image" Target="../media/image144.png"/><Relationship Id="rId7" Type="http://schemas.openxmlformats.org/officeDocument/2006/relationships/image" Target="../media/image148.png"/><Relationship Id="rId8" Type="http://schemas.openxmlformats.org/officeDocument/2006/relationships/image" Target="../media/image1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56.png"/><Relationship Id="rId4" Type="http://schemas.openxmlformats.org/officeDocument/2006/relationships/image" Target="../media/image155.png"/><Relationship Id="rId5" Type="http://schemas.openxmlformats.org/officeDocument/2006/relationships/image" Target="../media/image161.png"/><Relationship Id="rId6" Type="http://schemas.openxmlformats.org/officeDocument/2006/relationships/image" Target="../media/image167.png"/><Relationship Id="rId7" Type="http://schemas.openxmlformats.org/officeDocument/2006/relationships/image" Target="../media/image154.png"/><Relationship Id="rId8" Type="http://schemas.openxmlformats.org/officeDocument/2006/relationships/image" Target="../media/image15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46.png"/><Relationship Id="rId4" Type="http://schemas.openxmlformats.org/officeDocument/2006/relationships/image" Target="../media/image169.png"/><Relationship Id="rId5" Type="http://schemas.openxmlformats.org/officeDocument/2006/relationships/image" Target="../media/image164.png"/><Relationship Id="rId6" Type="http://schemas.openxmlformats.org/officeDocument/2006/relationships/image" Target="../media/image15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46.png"/><Relationship Id="rId4" Type="http://schemas.openxmlformats.org/officeDocument/2006/relationships/image" Target="../media/image169.png"/><Relationship Id="rId5" Type="http://schemas.openxmlformats.org/officeDocument/2006/relationships/image" Target="../media/image164.png"/><Relationship Id="rId6" Type="http://schemas.openxmlformats.org/officeDocument/2006/relationships/image" Target="../media/image157.png"/><Relationship Id="rId7" Type="http://schemas.openxmlformats.org/officeDocument/2006/relationships/image" Target="../media/image160.png"/><Relationship Id="rId8" Type="http://schemas.openxmlformats.org/officeDocument/2006/relationships/image" Target="../media/image17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65.png"/><Relationship Id="rId4" Type="http://schemas.openxmlformats.org/officeDocument/2006/relationships/image" Target="../media/image17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71.png"/><Relationship Id="rId4" Type="http://schemas.openxmlformats.org/officeDocument/2006/relationships/chart" Target="../charts/chart3.xml"/><Relationship Id="rId5" Type="http://schemas.openxmlformats.org/officeDocument/2006/relationships/image" Target="../media/image168.png"/><Relationship Id="rId6" Type="http://schemas.openxmlformats.org/officeDocument/2006/relationships/image" Target="../media/image17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66.png"/><Relationship Id="rId4" Type="http://schemas.openxmlformats.org/officeDocument/2006/relationships/image" Target="../media/image173.png"/><Relationship Id="rId5" Type="http://schemas.openxmlformats.org/officeDocument/2006/relationships/image" Target="../media/image170.png"/><Relationship Id="rId6" Type="http://schemas.openxmlformats.org/officeDocument/2006/relationships/image" Target="../media/image17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chart" Target="../charts/chart4.xml"/><Relationship Id="rId4" Type="http://schemas.openxmlformats.org/officeDocument/2006/relationships/image" Target="../media/image17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81.png"/><Relationship Id="rId4" Type="http://schemas.openxmlformats.org/officeDocument/2006/relationships/image" Target="../media/image17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91.png"/><Relationship Id="rId4" Type="http://schemas.openxmlformats.org/officeDocument/2006/relationships/image" Target="../media/image187.png"/><Relationship Id="rId5" Type="http://schemas.openxmlformats.org/officeDocument/2006/relationships/image" Target="../media/image182.png"/><Relationship Id="rId6" Type="http://schemas.openxmlformats.org/officeDocument/2006/relationships/image" Target="../media/image19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91.png"/><Relationship Id="rId4" Type="http://schemas.openxmlformats.org/officeDocument/2006/relationships/image" Target="../media/image187.png"/><Relationship Id="rId5" Type="http://schemas.openxmlformats.org/officeDocument/2006/relationships/image" Target="../media/image182.png"/><Relationship Id="rId6" Type="http://schemas.openxmlformats.org/officeDocument/2006/relationships/image" Target="../media/image190.png"/><Relationship Id="rId7" Type="http://schemas.openxmlformats.org/officeDocument/2006/relationships/image" Target="../media/image188.png"/><Relationship Id="rId8" Type="http://schemas.openxmlformats.org/officeDocument/2006/relationships/image" Target="../media/image18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91.png"/><Relationship Id="rId4" Type="http://schemas.openxmlformats.org/officeDocument/2006/relationships/image" Target="../media/image187.png"/><Relationship Id="rId11" Type="http://schemas.openxmlformats.org/officeDocument/2006/relationships/image" Target="../media/image188.png"/><Relationship Id="rId10" Type="http://schemas.openxmlformats.org/officeDocument/2006/relationships/image" Target="../media/image189.png"/><Relationship Id="rId12" Type="http://schemas.openxmlformats.org/officeDocument/2006/relationships/image" Target="../media/image180.png"/><Relationship Id="rId9" Type="http://schemas.openxmlformats.org/officeDocument/2006/relationships/image" Target="../media/image194.png"/><Relationship Id="rId5" Type="http://schemas.openxmlformats.org/officeDocument/2006/relationships/image" Target="../media/image182.png"/><Relationship Id="rId6" Type="http://schemas.openxmlformats.org/officeDocument/2006/relationships/image" Target="../media/image190.png"/><Relationship Id="rId7" Type="http://schemas.openxmlformats.org/officeDocument/2006/relationships/image" Target="../media/image185.png"/><Relationship Id="rId8" Type="http://schemas.openxmlformats.org/officeDocument/2006/relationships/image" Target="../media/image18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93.png"/><Relationship Id="rId4" Type="http://schemas.openxmlformats.org/officeDocument/2006/relationships/image" Target="../media/image198.png"/><Relationship Id="rId5" Type="http://schemas.openxmlformats.org/officeDocument/2006/relationships/image" Target="../media/image19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9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15.png"/><Relationship Id="rId4" Type="http://schemas.openxmlformats.org/officeDocument/2006/relationships/image" Target="../media/image209.png"/><Relationship Id="rId5" Type="http://schemas.openxmlformats.org/officeDocument/2006/relationships/image" Target="../media/image20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04.png"/><Relationship Id="rId4" Type="http://schemas.openxmlformats.org/officeDocument/2006/relationships/image" Target="../media/image212.png"/><Relationship Id="rId5" Type="http://schemas.openxmlformats.org/officeDocument/2006/relationships/image" Target="../media/image21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04.png"/><Relationship Id="rId4" Type="http://schemas.openxmlformats.org/officeDocument/2006/relationships/image" Target="../media/image212.png"/><Relationship Id="rId5" Type="http://schemas.openxmlformats.org/officeDocument/2006/relationships/image" Target="../media/image214.png"/><Relationship Id="rId6" Type="http://schemas.openxmlformats.org/officeDocument/2006/relationships/image" Target="../media/image205.png"/><Relationship Id="rId7" Type="http://schemas.openxmlformats.org/officeDocument/2006/relationships/image" Target="../media/image19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02.png"/><Relationship Id="rId4" Type="http://schemas.openxmlformats.org/officeDocument/2006/relationships/image" Target="../media/image20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02.png"/><Relationship Id="rId4" Type="http://schemas.openxmlformats.org/officeDocument/2006/relationships/image" Target="../media/image200.png"/><Relationship Id="rId5" Type="http://schemas.openxmlformats.org/officeDocument/2006/relationships/image" Target="../media/image216.png"/><Relationship Id="rId6" Type="http://schemas.openxmlformats.org/officeDocument/2006/relationships/image" Target="../media/image218.png"/><Relationship Id="rId7" Type="http://schemas.openxmlformats.org/officeDocument/2006/relationships/image" Target="../media/image217.png"/><Relationship Id="rId8" Type="http://schemas.openxmlformats.org/officeDocument/2006/relationships/image" Target="../media/image21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19.png"/><Relationship Id="rId4" Type="http://schemas.openxmlformats.org/officeDocument/2006/relationships/image" Target="../media/image228.png"/><Relationship Id="rId5" Type="http://schemas.openxmlformats.org/officeDocument/2006/relationships/image" Target="../media/image211.png"/><Relationship Id="rId6" Type="http://schemas.openxmlformats.org/officeDocument/2006/relationships/image" Target="../media/image22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20.png"/><Relationship Id="rId4" Type="http://schemas.openxmlformats.org/officeDocument/2006/relationships/image" Target="../media/image22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chart" Target="../charts/chart5.xml"/><Relationship Id="rId4" Type="http://schemas.openxmlformats.org/officeDocument/2006/relationships/image" Target="../media/image229.png"/><Relationship Id="rId5" Type="http://schemas.openxmlformats.org/officeDocument/2006/relationships/image" Target="../media/image22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24.png"/><Relationship Id="rId4" Type="http://schemas.openxmlformats.org/officeDocument/2006/relationships/chart" Target="../charts/chart6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23.png"/><Relationship Id="rId4" Type="http://schemas.openxmlformats.org/officeDocument/2006/relationships/chart" Target="../charts/chart7.xml"/><Relationship Id="rId5" Type="http://schemas.openxmlformats.org/officeDocument/2006/relationships/image" Target="../media/image226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27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/>
        </p:nvSpPr>
        <p:spPr>
          <a:xfrm>
            <a:off x="4421505" y="96116"/>
            <a:ext cx="33489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</a:t>
            </a:r>
            <a:endParaRPr/>
          </a:p>
        </p:txBody>
      </p:sp>
      <p:pic>
        <p:nvPicPr>
          <p:cNvPr descr="Risultati immagini per logo unibs"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504" y="179807"/>
            <a:ext cx="1217262" cy="5040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2"/>
          <p:cNvCxnSpPr>
            <a:stCxn id="89" idx="2"/>
          </p:cNvCxnSpPr>
          <p:nvPr/>
        </p:nvCxnSpPr>
        <p:spPr>
          <a:xfrm>
            <a:off x="771135" y="683863"/>
            <a:ext cx="11089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p2"/>
          <p:cNvSpPr txBox="1"/>
          <p:nvPr/>
        </p:nvSpPr>
        <p:spPr>
          <a:xfrm>
            <a:off x="1667780" y="1187920"/>
            <a:ext cx="2358274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Analisi del circuito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Dimensionamento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Simulazione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Integrazione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Conclusioni</a:t>
            </a:r>
            <a:endParaRPr/>
          </a:p>
        </p:txBody>
      </p:sp>
      <p:sp>
        <p:nvSpPr>
          <p:cNvPr id="92" name="Google Shape;92;p2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93" name="Google Shape;93;p2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1/50</a:t>
            </a:r>
            <a:endParaRPr/>
          </a:p>
        </p:txBody>
      </p:sp>
      <p:sp>
        <p:nvSpPr>
          <p:cNvPr id="94" name="Google Shape;94;p2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cxnSp>
        <p:nvCxnSpPr>
          <p:cNvPr id="95" name="Google Shape;95;p2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01" name="Google Shape;101;p3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2/50</a:t>
            </a:r>
            <a:endParaRPr/>
          </a:p>
        </p:txBody>
      </p:sp>
      <p:sp>
        <p:nvSpPr>
          <p:cNvPr id="102" name="Google Shape;102;p3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771135" y="1225118"/>
            <a:ext cx="7702301" cy="13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Energie rinnovabili sempre più importanti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Generazione termoelettrica: conversione di energia termica in elettricità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Tensione in uscita molto sensibile alla temperatura: </a:t>
            </a:r>
            <a:r>
              <a:rPr b="1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instabile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771135" y="3020537"/>
            <a:ext cx="74689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Soluzione: KY converter con miglioramento sul guadagno di tensione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771135" y="3908015"/>
            <a:ext cx="10154062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Caratteristiche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KY converter + SR boost converter + induttori accoppiati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Gli switch sono in comune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Guadagno di tensione dipendente da duty cycle e rapporto numero spire degli induttori accoppiati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due effetti si sommano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307382" y="126638"/>
            <a:ext cx="154972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847928" y="176861"/>
            <a:ext cx="15140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12" name="Google Shape;112;p3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" name="Google Shape;113;p3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/>
        </p:nvSpPr>
        <p:spPr>
          <a:xfrm>
            <a:off x="771135" y="1632953"/>
            <a:ext cx="80347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Studio del funzionamento del convertitore KY con miglioramento sul guadagno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771135" y="3189436"/>
            <a:ext cx="11182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 del funzionamento mediante simulazione circuitale e visualizzazione degli andamenti di tensioni e correnti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771135" y="4742018"/>
            <a:ext cx="91171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Realizzazione e caratterizzazione di una versione integrata che soddisfi le specifiche richieste</a:t>
            </a:r>
            <a:endParaRPr/>
          </a:p>
        </p:txBody>
      </p:sp>
      <p:sp>
        <p:nvSpPr>
          <p:cNvPr id="121" name="Google Shape;121;p4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22" name="Google Shape;122;p4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3/50</a:t>
            </a:r>
            <a:endParaRPr/>
          </a:p>
        </p:txBody>
      </p:sp>
      <p:sp>
        <p:nvSpPr>
          <p:cNvPr id="123" name="Google Shape;123;p4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2048064" y="128071"/>
            <a:ext cx="11794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3847928" y="176861"/>
            <a:ext cx="15140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30" name="Google Shape;130;p4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" name="Google Shape;131;p4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8160" y="835180"/>
            <a:ext cx="5355680" cy="209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38" name="Google Shape;138;p5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4/50</a:t>
            </a:r>
            <a:endParaRPr/>
          </a:p>
        </p:txBody>
      </p:sp>
      <p:sp>
        <p:nvSpPr>
          <p:cNvPr id="139" name="Google Shape;139;p5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46" name="Google Shape;146;p5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" name="Google Shape;147;p5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8160" y="835180"/>
            <a:ext cx="5355680" cy="209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6258397" y="793259"/>
            <a:ext cx="1589720" cy="2140882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612502" y="793259"/>
            <a:ext cx="639192" cy="2140882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2324655" y="3395431"/>
            <a:ext cx="16496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Convertitore KY</a:t>
            </a:r>
            <a:endParaRPr/>
          </a:p>
        </p:txBody>
      </p:sp>
      <p:pic>
        <p:nvPicPr>
          <p:cNvPr id="156" name="Google Shape;15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477" y="3891690"/>
            <a:ext cx="5264038" cy="220714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58" name="Google Shape;158;p6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4/50</a:t>
            </a:r>
            <a:endParaRPr/>
          </a:p>
        </p:txBody>
      </p:sp>
      <p:sp>
        <p:nvSpPr>
          <p:cNvPr id="159" name="Google Shape;159;p6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66" name="Google Shape;166;p6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" name="Google Shape;167;p6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8160" y="835180"/>
            <a:ext cx="5355680" cy="209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6258397" y="793259"/>
            <a:ext cx="1589720" cy="2140882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612502" y="793259"/>
            <a:ext cx="639192" cy="2140882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892985" y="977460"/>
            <a:ext cx="1741895" cy="209896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7498632" y="3315516"/>
            <a:ext cx="28084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Synchronous Rectifier Boost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7"/>
          <p:cNvPicPr preferRelativeResize="0"/>
          <p:nvPr/>
        </p:nvPicPr>
        <p:blipFill rotWithShape="1">
          <a:blip r:embed="rId4">
            <a:alphaModFix/>
          </a:blip>
          <a:srcRect b="10854" l="0" r="0" t="9951"/>
          <a:stretch/>
        </p:blipFill>
        <p:spPr>
          <a:xfrm>
            <a:off x="6623584" y="3760506"/>
            <a:ext cx="4300512" cy="226172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 txBox="1"/>
          <p:nvPr/>
        </p:nvSpPr>
        <p:spPr>
          <a:xfrm>
            <a:off x="2324655" y="3395431"/>
            <a:ext cx="16496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Convertitore KY</a:t>
            </a:r>
            <a:endParaRPr/>
          </a:p>
        </p:txBody>
      </p:sp>
      <p:pic>
        <p:nvPicPr>
          <p:cNvPr id="179" name="Google Shape;17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477" y="3891690"/>
            <a:ext cx="5264038" cy="220714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81" name="Google Shape;181;p7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4/50</a:t>
            </a:r>
            <a:endParaRPr/>
          </a:p>
        </p:txBody>
      </p:sp>
      <p:sp>
        <p:nvSpPr>
          <p:cNvPr id="182" name="Google Shape;182;p7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89" name="Google Shape;189;p7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0" name="Google Shape;190;p7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8160" y="835180"/>
            <a:ext cx="5355680" cy="209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4017273" y="1602732"/>
            <a:ext cx="639192" cy="577048"/>
          </a:xfrm>
          <a:prstGeom prst="ellipse">
            <a:avLst/>
          </a:prstGeom>
          <a:noFill/>
          <a:ln cap="flat" cmpd="sng" w="317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541272" y="759522"/>
            <a:ext cx="639192" cy="577048"/>
          </a:xfrm>
          <a:prstGeom prst="ellipse">
            <a:avLst/>
          </a:prstGeom>
          <a:noFill/>
          <a:ln cap="flat" cmpd="sng" w="317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258397" y="793259"/>
            <a:ext cx="1589720" cy="2140882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612502" y="793259"/>
            <a:ext cx="639192" cy="2140882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892985" y="977460"/>
            <a:ext cx="1741895" cy="209896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8"/>
          <p:cNvCxnSpPr>
            <a:endCxn id="197" idx="2"/>
          </p:cNvCxnSpPr>
          <p:nvPr/>
        </p:nvCxnSpPr>
        <p:spPr>
          <a:xfrm flipH="1" rot="10800000">
            <a:off x="2621372" y="1048046"/>
            <a:ext cx="2919900" cy="270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2" name="Google Shape;202;p8"/>
          <p:cNvCxnSpPr>
            <a:endCxn id="196" idx="2"/>
          </p:cNvCxnSpPr>
          <p:nvPr/>
        </p:nvCxnSpPr>
        <p:spPr>
          <a:xfrm>
            <a:off x="2621373" y="1322156"/>
            <a:ext cx="1395900" cy="5691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3" name="Google Shape;203;p8"/>
          <p:cNvSpPr txBox="1"/>
          <p:nvPr/>
        </p:nvSpPr>
        <p:spPr>
          <a:xfrm>
            <a:off x="636773" y="1122453"/>
            <a:ext cx="20249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Induttori accoppiati</a:t>
            </a:r>
            <a:endParaRPr/>
          </a:p>
        </p:txBody>
      </p:sp>
      <p:sp>
        <p:nvSpPr>
          <p:cNvPr id="204" name="Google Shape;204;p8"/>
          <p:cNvSpPr txBox="1"/>
          <p:nvPr/>
        </p:nvSpPr>
        <p:spPr>
          <a:xfrm>
            <a:off x="7498632" y="3315516"/>
            <a:ext cx="28084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Synchronous Rectifier Boost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8"/>
          <p:cNvPicPr preferRelativeResize="0"/>
          <p:nvPr/>
        </p:nvPicPr>
        <p:blipFill rotWithShape="1">
          <a:blip r:embed="rId4">
            <a:alphaModFix/>
          </a:blip>
          <a:srcRect b="10854" l="0" r="0" t="9951"/>
          <a:stretch/>
        </p:blipFill>
        <p:spPr>
          <a:xfrm>
            <a:off x="6623584" y="3760506"/>
            <a:ext cx="4300512" cy="226172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 txBox="1"/>
          <p:nvPr/>
        </p:nvSpPr>
        <p:spPr>
          <a:xfrm>
            <a:off x="2324655" y="3395431"/>
            <a:ext cx="16496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Convertitore KY</a:t>
            </a:r>
            <a:endParaRPr/>
          </a:p>
        </p:txBody>
      </p:sp>
      <p:pic>
        <p:nvPicPr>
          <p:cNvPr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477" y="3891690"/>
            <a:ext cx="5264038" cy="220714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209" name="Google Shape;209;p8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4/50</a:t>
            </a:r>
            <a:endParaRPr/>
          </a:p>
        </p:txBody>
      </p:sp>
      <p:sp>
        <p:nvSpPr>
          <p:cNvPr id="210" name="Google Shape;210;p8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211" name="Google Shape;211;p8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212" name="Google Shape;212;p8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215" name="Google Shape;215;p8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217" name="Google Shape;217;p8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" name="Google Shape;218;p8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/>
        </p:nvSpPr>
        <p:spPr>
          <a:xfrm>
            <a:off x="561474" y="1267326"/>
            <a:ext cx="11421979" cy="2416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Ipotesi per l’analisi teorica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Induttori accoppiati modellizzati con due trasformatori ideali, dei quali il primo vede in parallelo un induttore di magnetizzazione 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in serie un induttore di perdita 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lk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i="1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leakage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 Coefficiente di accoppiamento k = 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/(L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lk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Correnti in 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positive (positive current mode)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Tempi morti tra commutazioni dei MOSFET trascurabili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MOSFET e diodo ideali (v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=0, i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Doff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=0, v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DSon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=0, i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DSoff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=0)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Capacità dai valori sufficientemente elevati da considerare le tensioni ai loro capi costanti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Ampiezza dei ripple dovuti a commutazioni trascurabili</a:t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561474" y="4167521"/>
            <a:ext cx="6462988" cy="13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Contenuti dell’analisi teorica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Principi di funzionamento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Guadagno di tensione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delle forme d’onda di corrente e tensione degli induttori</a:t>
            </a:r>
            <a:endParaRPr/>
          </a:p>
        </p:txBody>
      </p:sp>
      <p:sp>
        <p:nvSpPr>
          <p:cNvPr id="225" name="Google Shape;225;p9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226" name="Google Shape;226;p9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5/50</a:t>
            </a:r>
            <a:endParaRPr/>
          </a:p>
        </p:txBody>
      </p:sp>
      <p:sp>
        <p:nvSpPr>
          <p:cNvPr id="227" name="Google Shape;227;p9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229" name="Google Shape;229;p9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234" name="Google Shape;234;p9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5" name="Google Shape;235;p9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2871" y="851245"/>
            <a:ext cx="7286256" cy="257775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 txBox="1"/>
          <p:nvPr/>
        </p:nvSpPr>
        <p:spPr>
          <a:xfrm>
            <a:off x="469299" y="903615"/>
            <a:ext cx="31454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Stato I: S</a:t>
            </a:r>
            <a:r>
              <a:rPr b="1" baseline="-25000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spento, S</a:t>
            </a:r>
            <a:r>
              <a:rPr b="1" baseline="-25000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acceso </a:t>
            </a:r>
            <a:endParaRPr b="1" baseline="-25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243" name="Google Shape;243;p10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6/50</a:t>
            </a:r>
            <a:endParaRPr/>
          </a:p>
        </p:txBody>
      </p:sp>
      <p:sp>
        <p:nvSpPr>
          <p:cNvPr id="244" name="Google Shape;244;p10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245" name="Google Shape;245;p10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246" name="Google Shape;246;p10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248" name="Google Shape;248;p10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249" name="Google Shape;249;p10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250" name="Google Shape;250;p10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251" name="Google Shape;251;p10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2" name="Google Shape;252;p10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2871" y="851245"/>
            <a:ext cx="7286256" cy="257775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1"/>
          <p:cNvSpPr txBox="1"/>
          <p:nvPr/>
        </p:nvSpPr>
        <p:spPr>
          <a:xfrm>
            <a:off x="469299" y="903615"/>
            <a:ext cx="31454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Stato I: S</a:t>
            </a:r>
            <a:r>
              <a:rPr b="1" baseline="-25000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spento, S</a:t>
            </a:r>
            <a:r>
              <a:rPr b="1" baseline="-25000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acceso </a:t>
            </a:r>
            <a:endParaRPr b="1" baseline="-25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1229304" y="3563859"/>
            <a:ext cx="41206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lk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magnetizzati simultaneamente</a:t>
            </a:r>
            <a:endParaRPr/>
          </a:p>
        </p:txBody>
      </p:sp>
      <p:pic>
        <p:nvPicPr>
          <p:cNvPr id="260" name="Google Shape;26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9766" y="4068050"/>
            <a:ext cx="2607733" cy="138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9333" y="5422745"/>
            <a:ext cx="3920367" cy="69596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263" name="Google Shape;263;p11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6/50</a:t>
            </a:r>
            <a:endParaRPr/>
          </a:p>
        </p:txBody>
      </p:sp>
      <p:sp>
        <p:nvSpPr>
          <p:cNvPr id="264" name="Google Shape;264;p11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266" name="Google Shape;266;p11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271" name="Google Shape;271;p11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" name="Google Shape;272;p11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2871" y="851245"/>
            <a:ext cx="7286256" cy="257775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2"/>
          <p:cNvSpPr txBox="1"/>
          <p:nvPr/>
        </p:nvSpPr>
        <p:spPr>
          <a:xfrm>
            <a:off x="469299" y="903615"/>
            <a:ext cx="31454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Stato I: S</a:t>
            </a:r>
            <a:r>
              <a:rPr b="1" baseline="-25000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spento, S</a:t>
            </a:r>
            <a:r>
              <a:rPr b="1" baseline="-25000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acceso </a:t>
            </a:r>
            <a:endParaRPr b="1" baseline="-25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1229304" y="3563859"/>
            <a:ext cx="41206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lk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magnetizzati simultaneamente</a:t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6906972" y="3563859"/>
            <a:ext cx="33064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 carica, 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 demagnetizza</a:t>
            </a:r>
            <a:endParaRPr/>
          </a:p>
        </p:txBody>
      </p:sp>
      <p:pic>
        <p:nvPicPr>
          <p:cNvPr id="281" name="Google Shape;28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9766" y="4068050"/>
            <a:ext cx="2607733" cy="138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9333" y="5422745"/>
            <a:ext cx="3920367" cy="695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84772" y="4146852"/>
            <a:ext cx="3306418" cy="106477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2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285" name="Google Shape;285;p12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6/50</a:t>
            </a:r>
            <a:endParaRPr/>
          </a:p>
        </p:txBody>
      </p:sp>
      <p:sp>
        <p:nvSpPr>
          <p:cNvPr id="286" name="Google Shape;286;p12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287" name="Google Shape;287;p12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288" name="Google Shape;288;p12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290" name="Google Shape;290;p12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293" name="Google Shape;293;p12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4" name="Google Shape;294;p12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0733" y="849085"/>
            <a:ext cx="7171267" cy="255352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3"/>
          <p:cNvSpPr/>
          <p:nvPr/>
        </p:nvSpPr>
        <p:spPr>
          <a:xfrm>
            <a:off x="623870" y="3567835"/>
            <a:ext cx="10944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lk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demagnetizzati. C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 scarica , 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 magnetizza. L’energia precedentemente in 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lk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viene trasferita in C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01" name="Google Shape;301;p13"/>
          <p:cNvSpPr txBox="1"/>
          <p:nvPr/>
        </p:nvSpPr>
        <p:spPr>
          <a:xfrm>
            <a:off x="469299" y="903615"/>
            <a:ext cx="315663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Stato II: S</a:t>
            </a:r>
            <a:r>
              <a:rPr b="1" baseline="-25000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acceso, S</a:t>
            </a:r>
            <a:r>
              <a:rPr b="1" baseline="-25000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spento</a:t>
            </a:r>
            <a:endParaRPr b="1" baseline="-25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13"/>
          <p:cNvPicPr preferRelativeResize="0"/>
          <p:nvPr/>
        </p:nvPicPr>
        <p:blipFill rotWithShape="1">
          <a:blip r:embed="rId4">
            <a:alphaModFix/>
          </a:blip>
          <a:srcRect b="47486" l="0" r="0" t="0"/>
          <a:stretch/>
        </p:blipFill>
        <p:spPr>
          <a:xfrm>
            <a:off x="3578589" y="4102388"/>
            <a:ext cx="5034820" cy="102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2811" y="5194271"/>
            <a:ext cx="5286375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3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305" name="Google Shape;305;p13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7/50</a:t>
            </a:r>
            <a:endParaRPr/>
          </a:p>
        </p:txBody>
      </p:sp>
      <p:sp>
        <p:nvSpPr>
          <p:cNvPr id="306" name="Google Shape;306;p13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307" name="Google Shape;307;p13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308" name="Google Shape;308;p13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310" name="Google Shape;310;p13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311" name="Google Shape;311;p13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312" name="Google Shape;312;p13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313" name="Google Shape;313;p13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4" name="Google Shape;314;p13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"/>
          <p:cNvSpPr txBox="1"/>
          <p:nvPr/>
        </p:nvSpPr>
        <p:spPr>
          <a:xfrm>
            <a:off x="464192" y="905522"/>
            <a:ext cx="36108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Ricavo del guadagno di tensione</a:t>
            </a:r>
            <a:endParaRPr/>
          </a:p>
        </p:txBody>
      </p:sp>
      <p:sp>
        <p:nvSpPr>
          <p:cNvPr id="320" name="Google Shape;320;p14"/>
          <p:cNvSpPr txBox="1"/>
          <p:nvPr/>
        </p:nvSpPr>
        <p:spPr>
          <a:xfrm>
            <a:off x="771135" y="1482571"/>
            <a:ext cx="91542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Detto T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il periodo di commutazione di ogni switch, si consideri DT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il tempo in cui S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è acceso</a:t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771135" y="5262822"/>
            <a:ext cx="3682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i="1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 second balance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applicato a Lo</a:t>
            </a:r>
            <a:endParaRPr/>
          </a:p>
        </p:txBody>
      </p:sp>
      <p:pic>
        <p:nvPicPr>
          <p:cNvPr id="322" name="Google Shape;3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9204" y="5706768"/>
            <a:ext cx="4620357" cy="311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4"/>
          <p:cNvPicPr preferRelativeResize="0"/>
          <p:nvPr/>
        </p:nvPicPr>
        <p:blipFill rotWithShape="1">
          <a:blip r:embed="rId4">
            <a:alphaModFix/>
          </a:blip>
          <a:srcRect b="0" l="31876" r="32834" t="0"/>
          <a:stretch/>
        </p:blipFill>
        <p:spPr>
          <a:xfrm>
            <a:off x="4453297" y="2759848"/>
            <a:ext cx="2893695" cy="224225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4"/>
          <p:cNvSpPr txBox="1"/>
          <p:nvPr/>
        </p:nvSpPr>
        <p:spPr>
          <a:xfrm>
            <a:off x="771135" y="2028842"/>
            <a:ext cx="374467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i="1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 second balance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applicato a Lm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326" name="Google Shape;326;p14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8/50</a:t>
            </a:r>
            <a:endParaRPr/>
          </a:p>
        </p:txBody>
      </p:sp>
      <p:sp>
        <p:nvSpPr>
          <p:cNvPr id="327" name="Google Shape;327;p14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328" name="Google Shape;328;p14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329" name="Google Shape;329;p14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331" name="Google Shape;331;p14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332" name="Google Shape;332;p14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333" name="Google Shape;333;p14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334" name="Google Shape;334;p14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5" name="Google Shape;335;p14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5"/>
          <p:cNvSpPr txBox="1"/>
          <p:nvPr/>
        </p:nvSpPr>
        <p:spPr>
          <a:xfrm>
            <a:off x="449802" y="1051452"/>
            <a:ext cx="36108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Ricavo del guadagno di tensione</a:t>
            </a:r>
            <a:endParaRPr/>
          </a:p>
        </p:txBody>
      </p:sp>
      <p:pic>
        <p:nvPicPr>
          <p:cNvPr id="341" name="Google Shape;3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2947" y="3318334"/>
            <a:ext cx="1817048" cy="684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9189" y="1913011"/>
            <a:ext cx="5303181" cy="357424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5"/>
          <p:cNvSpPr/>
          <p:nvPr/>
        </p:nvSpPr>
        <p:spPr>
          <a:xfrm>
            <a:off x="3312780" y="2619373"/>
            <a:ext cx="6096000" cy="284949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344" name="Google Shape;344;p15"/>
          <p:cNvCxnSpPr/>
          <p:nvPr/>
        </p:nvCxnSpPr>
        <p:spPr>
          <a:xfrm flipH="1" rot="10800000">
            <a:off x="3545632" y="2742768"/>
            <a:ext cx="1240972" cy="23326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5" name="Google Shape;345;p15"/>
          <p:cNvCxnSpPr/>
          <p:nvPr/>
        </p:nvCxnSpPr>
        <p:spPr>
          <a:xfrm flipH="1" rot="10800000">
            <a:off x="7467599" y="2736265"/>
            <a:ext cx="1240972" cy="23326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6" name="Google Shape;346;p15"/>
          <p:cNvCxnSpPr/>
          <p:nvPr/>
        </p:nvCxnSpPr>
        <p:spPr>
          <a:xfrm>
            <a:off x="3449995" y="3623135"/>
            <a:ext cx="1447371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7" name="Google Shape;347;p15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348" name="Google Shape;348;p15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9/50</a:t>
            </a:r>
            <a:endParaRPr/>
          </a:p>
        </p:txBody>
      </p:sp>
      <p:sp>
        <p:nvSpPr>
          <p:cNvPr id="349" name="Google Shape;349;p15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350" name="Google Shape;350;p15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351" name="Google Shape;351;p15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353" name="Google Shape;353;p15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354" name="Google Shape;354;p15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355" name="Google Shape;355;p15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356" name="Google Shape;356;p15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7" name="Google Shape;357;p15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6"/>
          <p:cNvSpPr txBox="1"/>
          <p:nvPr/>
        </p:nvSpPr>
        <p:spPr>
          <a:xfrm>
            <a:off x="449802" y="1051452"/>
            <a:ext cx="36108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Ricavo del guadagno di tensione</a:t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5129901" y="1592504"/>
            <a:ext cx="1932196" cy="5192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4" name="Google Shape;364;p16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365" name="Google Shape;365;p16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10/50</a:t>
            </a:r>
            <a:endParaRPr/>
          </a:p>
        </p:txBody>
      </p:sp>
      <p:sp>
        <p:nvSpPr>
          <p:cNvPr id="366" name="Google Shape;366;p16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367" name="Google Shape;367;p16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368" name="Google Shape;368;p16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370" name="Google Shape;370;p16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371" name="Google Shape;371;p16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372" name="Google Shape;372;p16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373" name="Google Shape;373;p16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4" name="Google Shape;374;p16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"/>
          <p:cNvSpPr txBox="1"/>
          <p:nvPr/>
        </p:nvSpPr>
        <p:spPr>
          <a:xfrm>
            <a:off x="449802" y="1051452"/>
            <a:ext cx="36108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Ricavo del guadagno di tensione</a:t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5129901" y="1592504"/>
            <a:ext cx="1932196" cy="5192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1" name="Google Shape;381;p17"/>
          <p:cNvSpPr txBox="1"/>
          <p:nvPr/>
        </p:nvSpPr>
        <p:spPr>
          <a:xfrm>
            <a:off x="1379766" y="2426143"/>
            <a:ext cx="780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Stato I</a:t>
            </a:r>
            <a:endParaRPr/>
          </a:p>
        </p:txBody>
      </p:sp>
      <p:pic>
        <p:nvPicPr>
          <p:cNvPr id="382" name="Google Shape;382;p17"/>
          <p:cNvPicPr preferRelativeResize="0"/>
          <p:nvPr/>
        </p:nvPicPr>
        <p:blipFill rotWithShape="1">
          <a:blip r:embed="rId4">
            <a:alphaModFix/>
          </a:blip>
          <a:srcRect b="9201" l="3075" r="3714" t="9215"/>
          <a:stretch/>
        </p:blipFill>
        <p:spPr>
          <a:xfrm>
            <a:off x="449802" y="2062704"/>
            <a:ext cx="6275618" cy="223044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7"/>
          <p:cNvSpPr/>
          <p:nvPr/>
        </p:nvSpPr>
        <p:spPr>
          <a:xfrm>
            <a:off x="6824562" y="2378277"/>
            <a:ext cx="3828804" cy="83439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4" name="Google Shape;384;p17"/>
          <p:cNvSpPr txBox="1"/>
          <p:nvPr/>
        </p:nvSpPr>
        <p:spPr>
          <a:xfrm>
            <a:off x="1532166" y="2578543"/>
            <a:ext cx="780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Stato I</a:t>
            </a:r>
            <a:endParaRPr/>
          </a:p>
        </p:txBody>
      </p:sp>
      <p:sp>
        <p:nvSpPr>
          <p:cNvPr id="385" name="Google Shape;385;p17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386" name="Google Shape;386;p17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10/50</a:t>
            </a:r>
            <a:endParaRPr/>
          </a:p>
        </p:txBody>
      </p:sp>
      <p:sp>
        <p:nvSpPr>
          <p:cNvPr id="387" name="Google Shape;387;p17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388" name="Google Shape;388;p17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389" name="Google Shape;389;p17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391" name="Google Shape;391;p17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392" name="Google Shape;392;p17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393" name="Google Shape;393;p17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394" name="Google Shape;394;p17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5" name="Google Shape;395;p17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8"/>
          <p:cNvSpPr txBox="1"/>
          <p:nvPr/>
        </p:nvSpPr>
        <p:spPr>
          <a:xfrm>
            <a:off x="449802" y="1051452"/>
            <a:ext cx="36108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Ricavo del guadagno di tensione</a:t>
            </a:r>
            <a:endParaRPr/>
          </a:p>
        </p:txBody>
      </p:sp>
      <p:sp>
        <p:nvSpPr>
          <p:cNvPr id="401" name="Google Shape;401;p18"/>
          <p:cNvSpPr/>
          <p:nvPr/>
        </p:nvSpPr>
        <p:spPr>
          <a:xfrm>
            <a:off x="5129901" y="1592504"/>
            <a:ext cx="1932196" cy="5192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02" name="Google Shape;402;p18"/>
          <p:cNvSpPr txBox="1"/>
          <p:nvPr/>
        </p:nvSpPr>
        <p:spPr>
          <a:xfrm>
            <a:off x="1379766" y="2426143"/>
            <a:ext cx="780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Stato I</a:t>
            </a:r>
            <a:endParaRPr/>
          </a:p>
        </p:txBody>
      </p:sp>
      <p:pic>
        <p:nvPicPr>
          <p:cNvPr id="403" name="Google Shape;403;p18"/>
          <p:cNvPicPr preferRelativeResize="0"/>
          <p:nvPr/>
        </p:nvPicPr>
        <p:blipFill rotWithShape="1">
          <a:blip r:embed="rId4">
            <a:alphaModFix/>
          </a:blip>
          <a:srcRect b="9201" l="3075" r="3714" t="9215"/>
          <a:stretch/>
        </p:blipFill>
        <p:spPr>
          <a:xfrm>
            <a:off x="449802" y="2062704"/>
            <a:ext cx="6275618" cy="223044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8"/>
          <p:cNvSpPr/>
          <p:nvPr/>
        </p:nvSpPr>
        <p:spPr>
          <a:xfrm>
            <a:off x="6824562" y="2378277"/>
            <a:ext cx="3828804" cy="83439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05" name="Google Shape;405;p18"/>
          <p:cNvSpPr txBox="1"/>
          <p:nvPr/>
        </p:nvSpPr>
        <p:spPr>
          <a:xfrm>
            <a:off x="1532166" y="2578543"/>
            <a:ext cx="780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Stato I</a:t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816612" y="4385083"/>
            <a:ext cx="3309752" cy="68999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07" name="Google Shape;407;p18"/>
          <p:cNvCxnSpPr>
            <a:stCxn id="406" idx="3"/>
          </p:cNvCxnSpPr>
          <p:nvPr/>
        </p:nvCxnSpPr>
        <p:spPr>
          <a:xfrm>
            <a:off x="4126364" y="4730082"/>
            <a:ext cx="6621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8" name="Google Shape;408;p18"/>
          <p:cNvSpPr/>
          <p:nvPr/>
        </p:nvSpPr>
        <p:spPr>
          <a:xfrm>
            <a:off x="4788315" y="4378741"/>
            <a:ext cx="2922338" cy="71974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09" name="Google Shape;409;p18"/>
          <p:cNvCxnSpPr/>
          <p:nvPr/>
        </p:nvCxnSpPr>
        <p:spPr>
          <a:xfrm flipH="1" rot="10800000">
            <a:off x="7710653" y="4738615"/>
            <a:ext cx="661951" cy="1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0" name="Google Shape;410;p18"/>
          <p:cNvSpPr/>
          <p:nvPr/>
        </p:nvSpPr>
        <p:spPr>
          <a:xfrm>
            <a:off x="8372604" y="4378740"/>
            <a:ext cx="2518382" cy="71974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1" name="Google Shape;411;p18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412" name="Google Shape;412;p18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10/50</a:t>
            </a:r>
            <a:endParaRPr/>
          </a:p>
        </p:txBody>
      </p:sp>
      <p:sp>
        <p:nvSpPr>
          <p:cNvPr id="413" name="Google Shape;413;p18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414" name="Google Shape;414;p18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415" name="Google Shape;415;p18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417" name="Google Shape;417;p18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418" name="Google Shape;418;p18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419" name="Google Shape;419;p18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420" name="Google Shape;420;p18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1" name="Google Shape;421;p18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"/>
          <p:cNvSpPr txBox="1"/>
          <p:nvPr/>
        </p:nvSpPr>
        <p:spPr>
          <a:xfrm>
            <a:off x="449802" y="1051452"/>
            <a:ext cx="36108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Ricavo del guadagno di tensione</a:t>
            </a:r>
            <a:endParaRPr/>
          </a:p>
        </p:txBody>
      </p:sp>
      <p:sp>
        <p:nvSpPr>
          <p:cNvPr id="427" name="Google Shape;427;p19"/>
          <p:cNvSpPr/>
          <p:nvPr/>
        </p:nvSpPr>
        <p:spPr>
          <a:xfrm>
            <a:off x="5129901" y="1592504"/>
            <a:ext cx="1932196" cy="5192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8" name="Google Shape;428;p19"/>
          <p:cNvSpPr txBox="1"/>
          <p:nvPr/>
        </p:nvSpPr>
        <p:spPr>
          <a:xfrm>
            <a:off x="1379766" y="2426143"/>
            <a:ext cx="780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Stato I</a:t>
            </a:r>
            <a:endParaRPr/>
          </a:p>
        </p:txBody>
      </p:sp>
      <p:pic>
        <p:nvPicPr>
          <p:cNvPr id="429" name="Google Shape;429;p19"/>
          <p:cNvPicPr preferRelativeResize="0"/>
          <p:nvPr/>
        </p:nvPicPr>
        <p:blipFill rotWithShape="1">
          <a:blip r:embed="rId4">
            <a:alphaModFix/>
          </a:blip>
          <a:srcRect b="9201" l="3075" r="3714" t="9215"/>
          <a:stretch/>
        </p:blipFill>
        <p:spPr>
          <a:xfrm>
            <a:off x="449802" y="2062704"/>
            <a:ext cx="6275618" cy="223044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9"/>
          <p:cNvSpPr/>
          <p:nvPr/>
        </p:nvSpPr>
        <p:spPr>
          <a:xfrm>
            <a:off x="6824562" y="2378277"/>
            <a:ext cx="3828804" cy="83439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1" name="Google Shape;431;p19"/>
          <p:cNvSpPr txBox="1"/>
          <p:nvPr/>
        </p:nvSpPr>
        <p:spPr>
          <a:xfrm>
            <a:off x="1532166" y="2578543"/>
            <a:ext cx="780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Stato I</a:t>
            </a:r>
            <a:endParaRPr/>
          </a:p>
        </p:txBody>
      </p:sp>
      <p:sp>
        <p:nvSpPr>
          <p:cNvPr id="432" name="Google Shape;432;p19"/>
          <p:cNvSpPr/>
          <p:nvPr/>
        </p:nvSpPr>
        <p:spPr>
          <a:xfrm>
            <a:off x="816612" y="4385083"/>
            <a:ext cx="3309752" cy="68999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33" name="Google Shape;433;p19"/>
          <p:cNvCxnSpPr>
            <a:stCxn id="432" idx="3"/>
          </p:cNvCxnSpPr>
          <p:nvPr/>
        </p:nvCxnSpPr>
        <p:spPr>
          <a:xfrm>
            <a:off x="4126364" y="4730082"/>
            <a:ext cx="6621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4" name="Google Shape;434;p19"/>
          <p:cNvSpPr/>
          <p:nvPr/>
        </p:nvSpPr>
        <p:spPr>
          <a:xfrm>
            <a:off x="4788315" y="4378741"/>
            <a:ext cx="2922338" cy="71974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35" name="Google Shape;435;p19"/>
          <p:cNvCxnSpPr/>
          <p:nvPr/>
        </p:nvCxnSpPr>
        <p:spPr>
          <a:xfrm flipH="1" rot="10800000">
            <a:off x="7710653" y="4738615"/>
            <a:ext cx="661951" cy="1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6" name="Google Shape;436;p19"/>
          <p:cNvSpPr/>
          <p:nvPr/>
        </p:nvSpPr>
        <p:spPr>
          <a:xfrm>
            <a:off x="8372604" y="4378740"/>
            <a:ext cx="2518382" cy="71974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7" name="Google Shape;437;p19"/>
          <p:cNvSpPr txBox="1"/>
          <p:nvPr/>
        </p:nvSpPr>
        <p:spPr>
          <a:xfrm>
            <a:off x="4788315" y="5370787"/>
            <a:ext cx="2769156" cy="89377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8" name="Google Shape;438;p19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439" name="Google Shape;439;p19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10/50</a:t>
            </a:r>
            <a:endParaRPr/>
          </a:p>
        </p:txBody>
      </p:sp>
      <p:sp>
        <p:nvSpPr>
          <p:cNvPr id="440" name="Google Shape;440;p19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441" name="Google Shape;441;p19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442" name="Google Shape;442;p19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444" name="Google Shape;444;p19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445" name="Google Shape;445;p19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446" name="Google Shape;446;p19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447" name="Google Shape;447;p19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8" name="Google Shape;448;p19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0"/>
          <p:cNvSpPr txBox="1"/>
          <p:nvPr/>
        </p:nvSpPr>
        <p:spPr>
          <a:xfrm>
            <a:off x="1059743" y="1110055"/>
            <a:ext cx="400122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Guadagno di tensione al variare di k</a:t>
            </a:r>
            <a:endParaRPr/>
          </a:p>
        </p:txBody>
      </p:sp>
      <p:graphicFrame>
        <p:nvGraphicFramePr>
          <p:cNvPr id="454" name="Google Shape;454;p20"/>
          <p:cNvGraphicFramePr/>
          <p:nvPr/>
        </p:nvGraphicFramePr>
        <p:xfrm>
          <a:off x="24712" y="1666084"/>
          <a:ext cx="6071287" cy="3681751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55" name="Google Shape;455;p20"/>
          <p:cNvSpPr txBox="1"/>
          <p:nvPr/>
        </p:nvSpPr>
        <p:spPr>
          <a:xfrm>
            <a:off x="288249" y="5423493"/>
            <a:ext cx="554421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Curva del guadagno di tensione al variare di k con n fisso.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All’aumentare di k aumenta il guadagno.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0"/>
          <p:cNvSpPr txBox="1"/>
          <p:nvPr/>
        </p:nvSpPr>
        <p:spPr>
          <a:xfrm>
            <a:off x="7025556" y="1110055"/>
            <a:ext cx="400122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Guadagno di tensione al variare di n</a:t>
            </a:r>
            <a:endParaRPr/>
          </a:p>
        </p:txBody>
      </p:sp>
      <p:sp>
        <p:nvSpPr>
          <p:cNvPr id="457" name="Google Shape;457;p20"/>
          <p:cNvSpPr txBox="1"/>
          <p:nvPr/>
        </p:nvSpPr>
        <p:spPr>
          <a:xfrm>
            <a:off x="6254063" y="5423509"/>
            <a:ext cx="554421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Curva del guadagno di tensione al variare di n con k fisso.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All’aumentare di n aumenta il guadagno.</a:t>
            </a:r>
            <a:endParaRPr/>
          </a:p>
        </p:txBody>
      </p:sp>
      <p:graphicFrame>
        <p:nvGraphicFramePr>
          <p:cNvPr id="458" name="Google Shape;458;p20"/>
          <p:cNvGraphicFramePr/>
          <p:nvPr/>
        </p:nvGraphicFramePr>
        <p:xfrm>
          <a:off x="6191769" y="1510165"/>
          <a:ext cx="5668798" cy="3681733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459" name="Google Shape;459;p20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460" name="Google Shape;460;p20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11/50</a:t>
            </a:r>
            <a:endParaRPr/>
          </a:p>
        </p:txBody>
      </p:sp>
      <p:sp>
        <p:nvSpPr>
          <p:cNvPr id="461" name="Google Shape;461;p20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462" name="Google Shape;462;p20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463" name="Google Shape;463;p20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465" name="Google Shape;465;p20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466" name="Google Shape;466;p20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467" name="Google Shape;467;p20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468" name="Google Shape;468;p20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9" name="Google Shape;469;p20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1"/>
          <p:cNvSpPr txBox="1"/>
          <p:nvPr/>
        </p:nvSpPr>
        <p:spPr>
          <a:xfrm>
            <a:off x="464192" y="905522"/>
            <a:ext cx="33929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Forme d’onda complessive: L</a:t>
            </a:r>
            <a:r>
              <a:rPr b="1" baseline="-25000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475" name="Google Shape;4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941" y="1443608"/>
            <a:ext cx="5780398" cy="146031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1"/>
          <p:cNvSpPr txBox="1"/>
          <p:nvPr/>
        </p:nvSpPr>
        <p:spPr>
          <a:xfrm>
            <a:off x="7301367" y="1187919"/>
            <a:ext cx="3107069" cy="164673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9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7" name="Google Shape;477;p21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478" name="Google Shape;478;p21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12/50</a:t>
            </a:r>
            <a:endParaRPr/>
          </a:p>
        </p:txBody>
      </p:sp>
      <p:sp>
        <p:nvSpPr>
          <p:cNvPr id="479" name="Google Shape;479;p21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480" name="Google Shape;480;p21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481" name="Google Shape;481;p21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483" name="Google Shape;483;p21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484" name="Google Shape;484;p21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485" name="Google Shape;485;p21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486" name="Google Shape;486;p21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7" name="Google Shape;487;p21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2"/>
          <p:cNvSpPr txBox="1"/>
          <p:nvPr/>
        </p:nvSpPr>
        <p:spPr>
          <a:xfrm>
            <a:off x="464192" y="905522"/>
            <a:ext cx="33929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Forme d’onda complessive: L</a:t>
            </a:r>
            <a:r>
              <a:rPr b="1" baseline="-25000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493" name="Google Shape;4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941" y="1443608"/>
            <a:ext cx="5780398" cy="1460311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2"/>
          <p:cNvSpPr txBox="1"/>
          <p:nvPr/>
        </p:nvSpPr>
        <p:spPr>
          <a:xfrm>
            <a:off x="7301367" y="1187919"/>
            <a:ext cx="3107069" cy="164673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9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5" name="Google Shape;495;p22"/>
          <p:cNvSpPr txBox="1"/>
          <p:nvPr/>
        </p:nvSpPr>
        <p:spPr>
          <a:xfrm>
            <a:off x="5385785" y="3196584"/>
            <a:ext cx="6394883" cy="165353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1322" l="0" r="0" t="-128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496" name="Google Shape;49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1433" y="3156325"/>
            <a:ext cx="4412593" cy="1653521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2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498" name="Google Shape;498;p22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12/50</a:t>
            </a:r>
            <a:endParaRPr/>
          </a:p>
        </p:txBody>
      </p:sp>
      <p:sp>
        <p:nvSpPr>
          <p:cNvPr id="499" name="Google Shape;499;p22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500" name="Google Shape;500;p22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501" name="Google Shape;501;p22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2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503" name="Google Shape;503;p22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504" name="Google Shape;504;p22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505" name="Google Shape;505;p22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506" name="Google Shape;506;p22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7" name="Google Shape;507;p22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3"/>
          <p:cNvSpPr txBox="1"/>
          <p:nvPr/>
        </p:nvSpPr>
        <p:spPr>
          <a:xfrm>
            <a:off x="464192" y="905522"/>
            <a:ext cx="33929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Forme d’onda complessive: L</a:t>
            </a:r>
            <a:r>
              <a:rPr b="1" baseline="-25000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513" name="Google Shape;5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941" y="1443608"/>
            <a:ext cx="5780398" cy="1460311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3"/>
          <p:cNvSpPr txBox="1"/>
          <p:nvPr/>
        </p:nvSpPr>
        <p:spPr>
          <a:xfrm>
            <a:off x="7301367" y="1187919"/>
            <a:ext cx="3107069" cy="164673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9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5" name="Google Shape;515;p23"/>
          <p:cNvSpPr txBox="1"/>
          <p:nvPr/>
        </p:nvSpPr>
        <p:spPr>
          <a:xfrm>
            <a:off x="5385785" y="3196584"/>
            <a:ext cx="6394883" cy="165353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1322" l="0" r="0" t="-128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516" name="Google Shape;51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1433" y="3156325"/>
            <a:ext cx="4412593" cy="1653521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23"/>
          <p:cNvSpPr/>
          <p:nvPr/>
        </p:nvSpPr>
        <p:spPr>
          <a:xfrm>
            <a:off x="571494" y="5062252"/>
            <a:ext cx="7301935" cy="67685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8" name="Google Shape;518;p23"/>
          <p:cNvSpPr txBox="1"/>
          <p:nvPr/>
        </p:nvSpPr>
        <p:spPr>
          <a:xfrm>
            <a:off x="5024142" y="6004920"/>
            <a:ext cx="1282531" cy="26936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8179" l="-2843" r="-47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19" name="Google Shape;519;p23"/>
          <p:cNvCxnSpPr/>
          <p:nvPr/>
        </p:nvCxnSpPr>
        <p:spPr>
          <a:xfrm rot="10800000">
            <a:off x="5665408" y="5547792"/>
            <a:ext cx="0" cy="457128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0" name="Google Shape;520;p23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521" name="Google Shape;521;p23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12/50</a:t>
            </a:r>
            <a:endParaRPr/>
          </a:p>
        </p:txBody>
      </p:sp>
      <p:sp>
        <p:nvSpPr>
          <p:cNvPr id="522" name="Google Shape;522;p23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523" name="Google Shape;523;p23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524" name="Google Shape;524;p23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3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526" name="Google Shape;526;p23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527" name="Google Shape;527;p23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528" name="Google Shape;528;p23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529" name="Google Shape;529;p23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0" name="Google Shape;530;p23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4"/>
          <p:cNvSpPr txBox="1"/>
          <p:nvPr/>
        </p:nvSpPr>
        <p:spPr>
          <a:xfrm>
            <a:off x="464192" y="905522"/>
            <a:ext cx="52801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Forme d’onda complessive: induttori accoppiati </a:t>
            </a:r>
            <a:endParaRPr/>
          </a:p>
        </p:txBody>
      </p:sp>
      <p:pic>
        <p:nvPicPr>
          <p:cNvPr id="536" name="Google Shape;53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004" y="1680623"/>
            <a:ext cx="4829175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4"/>
          <p:cNvSpPr txBox="1"/>
          <p:nvPr/>
        </p:nvSpPr>
        <p:spPr>
          <a:xfrm>
            <a:off x="400792" y="3505954"/>
            <a:ext cx="6173678" cy="245073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91" r="0" t="-4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8" name="Google Shape;538;p24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539" name="Google Shape;539;p24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13/50</a:t>
            </a:r>
            <a:endParaRPr/>
          </a:p>
        </p:txBody>
      </p:sp>
      <p:sp>
        <p:nvSpPr>
          <p:cNvPr id="540" name="Google Shape;540;p24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541" name="Google Shape;541;p24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542" name="Google Shape;542;p24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4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544" name="Google Shape;544;p24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545" name="Google Shape;545;p24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546" name="Google Shape;546;p24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547" name="Google Shape;547;p24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8" name="Google Shape;548;p24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5"/>
          <p:cNvSpPr txBox="1"/>
          <p:nvPr/>
        </p:nvSpPr>
        <p:spPr>
          <a:xfrm>
            <a:off x="464192" y="905522"/>
            <a:ext cx="52801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Forme d’onda complessive: induttori accoppiati </a:t>
            </a:r>
            <a:endParaRPr/>
          </a:p>
        </p:txBody>
      </p:sp>
      <p:pic>
        <p:nvPicPr>
          <p:cNvPr id="554" name="Google Shape;5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004" y="1680623"/>
            <a:ext cx="4829175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5"/>
          <p:cNvSpPr txBox="1"/>
          <p:nvPr/>
        </p:nvSpPr>
        <p:spPr>
          <a:xfrm>
            <a:off x="400792" y="3505954"/>
            <a:ext cx="6173678" cy="245073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91" r="0" t="-4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556" name="Google Shape;55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5201" y="1123392"/>
            <a:ext cx="4452607" cy="314008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25"/>
          <p:cNvSpPr txBox="1"/>
          <p:nvPr/>
        </p:nvSpPr>
        <p:spPr>
          <a:xfrm>
            <a:off x="7275201" y="4612446"/>
            <a:ext cx="4108753" cy="114640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741" r="0" t="-10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8" name="Google Shape;558;p25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559" name="Google Shape;559;p25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13/50</a:t>
            </a:r>
            <a:endParaRPr/>
          </a:p>
        </p:txBody>
      </p:sp>
      <p:sp>
        <p:nvSpPr>
          <p:cNvPr id="560" name="Google Shape;560;p25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561" name="Google Shape;561;p25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562" name="Google Shape;562;p25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5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564" name="Google Shape;564;p25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565" name="Google Shape;565;p25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566" name="Google Shape;566;p25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567" name="Google Shape;567;p25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8" name="Google Shape;568;p25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6"/>
          <p:cNvSpPr txBox="1"/>
          <p:nvPr/>
        </p:nvSpPr>
        <p:spPr>
          <a:xfrm>
            <a:off x="464192" y="905522"/>
            <a:ext cx="37488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Forme d’onda complessive: diodo</a:t>
            </a:r>
            <a:endParaRPr/>
          </a:p>
        </p:txBody>
      </p:sp>
      <p:pic>
        <p:nvPicPr>
          <p:cNvPr id="574" name="Google Shape;5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599" y="1504507"/>
            <a:ext cx="4754047" cy="1726227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6"/>
          <p:cNvSpPr txBox="1"/>
          <p:nvPr/>
        </p:nvSpPr>
        <p:spPr>
          <a:xfrm>
            <a:off x="6666819" y="2006353"/>
            <a:ext cx="931344" cy="3030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998" l="-592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76" name="Google Shape;576;p26"/>
          <p:cNvSpPr txBox="1"/>
          <p:nvPr/>
        </p:nvSpPr>
        <p:spPr>
          <a:xfrm>
            <a:off x="6666819" y="3603107"/>
            <a:ext cx="5326913" cy="164673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1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77" name="Google Shape;577;p26"/>
          <p:cNvSpPr txBox="1"/>
          <p:nvPr/>
        </p:nvSpPr>
        <p:spPr>
          <a:xfrm>
            <a:off x="3490623" y="5814678"/>
            <a:ext cx="4839273" cy="30309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7997" l="-3024" r="-1512" t="-239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578" name="Google Shape;57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9304" y="3603107"/>
            <a:ext cx="4073890" cy="180836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26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580" name="Google Shape;580;p26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14/50</a:t>
            </a:r>
            <a:endParaRPr/>
          </a:p>
        </p:txBody>
      </p:sp>
      <p:sp>
        <p:nvSpPr>
          <p:cNvPr id="581" name="Google Shape;581;p26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582" name="Google Shape;582;p26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583" name="Google Shape;583;p26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6"/>
          <p:cNvSpPr txBox="1"/>
          <p:nvPr/>
        </p:nvSpPr>
        <p:spPr>
          <a:xfrm>
            <a:off x="3547939" y="112294"/>
            <a:ext cx="21293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585" name="Google Shape;585;p26"/>
          <p:cNvSpPr txBox="1"/>
          <p:nvPr/>
        </p:nvSpPr>
        <p:spPr>
          <a:xfrm>
            <a:off x="6115275" y="176859"/>
            <a:ext cx="153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586" name="Google Shape;586;p26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587" name="Google Shape;587;p26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588" name="Google Shape;588;p26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9" name="Google Shape;589;p26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7"/>
          <p:cNvSpPr txBox="1"/>
          <p:nvPr/>
        </p:nvSpPr>
        <p:spPr>
          <a:xfrm>
            <a:off x="464192" y="905522"/>
            <a:ext cx="12634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Specifiche</a:t>
            </a:r>
            <a:endParaRPr/>
          </a:p>
        </p:txBody>
      </p:sp>
      <p:sp>
        <p:nvSpPr>
          <p:cNvPr id="595" name="Google Shape;595;p27"/>
          <p:cNvSpPr txBox="1"/>
          <p:nvPr/>
        </p:nvSpPr>
        <p:spPr>
          <a:xfrm>
            <a:off x="714654" y="1381290"/>
            <a:ext cx="105937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verificare le caratteristiche del circuito proposto sono state scelte delle condizioni operative a partire dalle quali sono stati dimensionati i componenti.</a:t>
            </a:r>
            <a:endParaRPr/>
          </a:p>
        </p:txBody>
      </p:sp>
      <p:graphicFrame>
        <p:nvGraphicFramePr>
          <p:cNvPr id="596" name="Google Shape;596;p27"/>
          <p:cNvGraphicFramePr/>
          <p:nvPr/>
        </p:nvGraphicFramePr>
        <p:xfrm>
          <a:off x="1604210" y="2316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{45B4574E-5275-4C1F-AE79-F6D1C1B99E57}</a:tableStyleId>
              </a:tblPr>
              <a:tblGrid>
                <a:gridCol w="4523875"/>
                <a:gridCol w="45238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Parametri di sistema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Specifiche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Tensione in ingresso (V</a:t>
                      </a:r>
                      <a:r>
                        <a:rPr baseline="-25000" lang="it-IT" sz="1800"/>
                        <a:t>i</a:t>
                      </a:r>
                      <a:r>
                        <a:rPr lang="it-IT" sz="1800"/>
                        <a:t>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12 V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Tensione in uscita nominale (V</a:t>
                      </a:r>
                      <a:r>
                        <a:rPr baseline="-25000" lang="it-IT" sz="1800"/>
                        <a:t>o</a:t>
                      </a:r>
                      <a:r>
                        <a:rPr lang="it-IT" sz="1800"/>
                        <a:t>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72 V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Potenza in uscita nominale (P</a:t>
                      </a:r>
                      <a:r>
                        <a:rPr baseline="-25000" lang="it-IT" sz="1800"/>
                        <a:t>o,rated</a:t>
                      </a:r>
                      <a:r>
                        <a:rPr lang="it-IT" sz="1800"/>
                        <a:t>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60 W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     da cui: corrente in uscita nominale (I</a:t>
                      </a:r>
                      <a:r>
                        <a:rPr baseline="-25000" lang="it-IT" sz="1800"/>
                        <a:t>o,rated</a:t>
                      </a:r>
                      <a:r>
                        <a:rPr lang="it-IT" sz="1800"/>
                        <a:t>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0,833 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Minima potenza in uscita (P</a:t>
                      </a:r>
                      <a:r>
                        <a:rPr baseline="-25000" lang="it-IT" sz="1800"/>
                        <a:t>o,min</a:t>
                      </a:r>
                      <a:r>
                        <a:rPr lang="it-IT" sz="1800"/>
                        <a:t>)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7,2 W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     da cui: corrente minima in uscita (I</a:t>
                      </a:r>
                      <a:r>
                        <a:rPr baseline="-25000" lang="it-IT" sz="1800"/>
                        <a:t>o,min</a:t>
                      </a:r>
                      <a:r>
                        <a:rPr lang="it-IT" sz="1800"/>
                        <a:t>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0,1 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Frequenza di commutazione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100 kHz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Duty cycle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50%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97" name="Google Shape;597;p27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598" name="Google Shape;598;p27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15/50</a:t>
            </a:r>
            <a:endParaRPr/>
          </a:p>
        </p:txBody>
      </p:sp>
      <p:sp>
        <p:nvSpPr>
          <p:cNvPr id="599" name="Google Shape;599;p27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600" name="Google Shape;600;p27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601" name="Google Shape;601;p27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7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603" name="Google Shape;603;p27"/>
          <p:cNvSpPr txBox="1"/>
          <p:nvPr/>
        </p:nvSpPr>
        <p:spPr>
          <a:xfrm>
            <a:off x="5829168" y="126740"/>
            <a:ext cx="21498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604" name="Google Shape;604;p27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605" name="Google Shape;605;p27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606" name="Google Shape;606;p27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7" name="Google Shape;607;p27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8"/>
          <p:cNvSpPr txBox="1"/>
          <p:nvPr/>
        </p:nvSpPr>
        <p:spPr>
          <a:xfrm>
            <a:off x="464192" y="905522"/>
            <a:ext cx="382341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di correnti e tensioni in DC </a:t>
            </a:r>
            <a:endParaRPr/>
          </a:p>
        </p:txBody>
      </p:sp>
      <p:sp>
        <p:nvSpPr>
          <p:cNvPr id="613" name="Google Shape;613;p28"/>
          <p:cNvSpPr txBox="1"/>
          <p:nvPr/>
        </p:nvSpPr>
        <p:spPr>
          <a:xfrm>
            <a:off x="771135" y="1324002"/>
            <a:ext cx="465691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regime si ha che: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corrente DC in una capacità è nulla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tensione DC ai capi di un induttore è nulla</a:t>
            </a:r>
            <a:endParaRPr/>
          </a:p>
        </p:txBody>
      </p:sp>
      <p:pic>
        <p:nvPicPr>
          <p:cNvPr id="614" name="Google Shape;614;p28"/>
          <p:cNvPicPr preferRelativeResize="0"/>
          <p:nvPr/>
        </p:nvPicPr>
        <p:blipFill rotWithShape="1">
          <a:blip r:embed="rId3">
            <a:alphaModFix/>
          </a:blip>
          <a:srcRect b="0" l="0" r="0" t="9138"/>
          <a:stretch/>
        </p:blipFill>
        <p:spPr>
          <a:xfrm>
            <a:off x="5584053" y="1105577"/>
            <a:ext cx="6180097" cy="230628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8"/>
          <p:cNvSpPr txBox="1"/>
          <p:nvPr/>
        </p:nvSpPr>
        <p:spPr>
          <a:xfrm>
            <a:off x="771135" y="2453868"/>
            <a:ext cx="4584672" cy="186692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06" l="-1060" r="-1326" t="-19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16" name="Google Shape;616;p28"/>
          <p:cNvSpPr txBox="1"/>
          <p:nvPr/>
        </p:nvSpPr>
        <p:spPr>
          <a:xfrm>
            <a:off x="852256" y="4572000"/>
            <a:ext cx="11202490" cy="50687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6023" l="-48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17" name="Google Shape;617;p28"/>
          <p:cNvSpPr txBox="1"/>
          <p:nvPr/>
        </p:nvSpPr>
        <p:spPr>
          <a:xfrm>
            <a:off x="7180649" y="5133904"/>
            <a:ext cx="797334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18" name="Google Shape;618;p28"/>
          <p:cNvCxnSpPr>
            <a:stCxn id="617" idx="0"/>
          </p:cNvCxnSpPr>
          <p:nvPr/>
        </p:nvCxnSpPr>
        <p:spPr>
          <a:xfrm rot="10800000">
            <a:off x="7579316" y="4892704"/>
            <a:ext cx="0" cy="241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9" name="Google Shape;619;p28"/>
          <p:cNvCxnSpPr/>
          <p:nvPr/>
        </p:nvCxnSpPr>
        <p:spPr>
          <a:xfrm flipH="1">
            <a:off x="8788893" y="4698371"/>
            <a:ext cx="142043" cy="21992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0" name="Google Shape;620;p28"/>
          <p:cNvCxnSpPr/>
          <p:nvPr/>
        </p:nvCxnSpPr>
        <p:spPr>
          <a:xfrm flipH="1">
            <a:off x="9473954" y="4706695"/>
            <a:ext cx="142043" cy="21992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1" name="Google Shape;621;p28"/>
          <p:cNvSpPr txBox="1"/>
          <p:nvPr/>
        </p:nvSpPr>
        <p:spPr>
          <a:xfrm>
            <a:off x="852256" y="5533998"/>
            <a:ext cx="6566348" cy="71468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22" name="Google Shape;622;p28"/>
          <p:cNvCxnSpPr/>
          <p:nvPr/>
        </p:nvCxnSpPr>
        <p:spPr>
          <a:xfrm flipH="1" rot="10800000">
            <a:off x="6096000" y="5811905"/>
            <a:ext cx="482353" cy="197403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3" name="Google Shape;623;p28"/>
          <p:cNvCxnSpPr/>
          <p:nvPr/>
        </p:nvCxnSpPr>
        <p:spPr>
          <a:xfrm flipH="1" rot="10800000">
            <a:off x="6800304" y="5811904"/>
            <a:ext cx="482353" cy="197403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4" name="Google Shape;624;p28"/>
          <p:cNvSpPr txBox="1"/>
          <p:nvPr/>
        </p:nvSpPr>
        <p:spPr>
          <a:xfrm>
            <a:off x="7987441" y="570667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</a:t>
            </a:r>
            <a:endParaRPr/>
          </a:p>
        </p:txBody>
      </p:sp>
      <p:sp>
        <p:nvSpPr>
          <p:cNvPr id="625" name="Google Shape;625;p28"/>
          <p:cNvSpPr/>
          <p:nvPr/>
        </p:nvSpPr>
        <p:spPr>
          <a:xfrm>
            <a:off x="8674101" y="5585871"/>
            <a:ext cx="1657698" cy="61093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6" name="Google Shape;626;p28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627" name="Google Shape;627;p28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16/50</a:t>
            </a:r>
            <a:endParaRPr/>
          </a:p>
        </p:txBody>
      </p:sp>
      <p:sp>
        <p:nvSpPr>
          <p:cNvPr id="628" name="Google Shape;628;p28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629" name="Google Shape;629;p28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630" name="Google Shape;630;p28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8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632" name="Google Shape;632;p28"/>
          <p:cNvSpPr txBox="1"/>
          <p:nvPr/>
        </p:nvSpPr>
        <p:spPr>
          <a:xfrm>
            <a:off x="5829168" y="126740"/>
            <a:ext cx="21498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633" name="Google Shape;633;p28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634" name="Google Shape;634;p28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635" name="Google Shape;635;p28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6" name="Google Shape;636;p28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9"/>
          <p:cNvSpPr txBox="1"/>
          <p:nvPr/>
        </p:nvSpPr>
        <p:spPr>
          <a:xfrm>
            <a:off x="464192" y="905522"/>
            <a:ext cx="573426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 dell’induttore di magnetizzazione</a:t>
            </a:r>
            <a:endParaRPr/>
          </a:p>
        </p:txBody>
      </p:sp>
      <p:sp>
        <p:nvSpPr>
          <p:cNvPr id="642" name="Google Shape;642;p29"/>
          <p:cNvSpPr txBox="1"/>
          <p:nvPr/>
        </p:nvSpPr>
        <p:spPr>
          <a:xfrm>
            <a:off x="6096000" y="1527290"/>
            <a:ext cx="5063231" cy="20313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902" l="-962" r="0" t="-18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643" name="Google Shape;64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192" y="1655090"/>
            <a:ext cx="550545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29"/>
          <p:cNvSpPr/>
          <p:nvPr/>
        </p:nvSpPr>
        <p:spPr>
          <a:xfrm>
            <a:off x="765345" y="4005384"/>
            <a:ext cx="9687075" cy="87844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45" name="Google Shape;645;p29"/>
          <p:cNvCxnSpPr/>
          <p:nvPr/>
        </p:nvCxnSpPr>
        <p:spPr>
          <a:xfrm rot="10800000">
            <a:off x="5019645" y="4452999"/>
            <a:ext cx="0" cy="43083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46" name="Google Shape;646;p29"/>
          <p:cNvSpPr txBox="1"/>
          <p:nvPr/>
        </p:nvSpPr>
        <p:spPr>
          <a:xfrm>
            <a:off x="757107" y="5776395"/>
            <a:ext cx="2374304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6" l="-2050" r="0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47" name="Google Shape;647;p29"/>
          <p:cNvSpPr/>
          <p:nvPr/>
        </p:nvSpPr>
        <p:spPr>
          <a:xfrm>
            <a:off x="4190796" y="4994998"/>
            <a:ext cx="1657698" cy="6109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48" name="Google Shape;648;p29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649" name="Google Shape;649;p29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17/50</a:t>
            </a:r>
            <a:endParaRPr/>
          </a:p>
        </p:txBody>
      </p:sp>
      <p:sp>
        <p:nvSpPr>
          <p:cNvPr id="650" name="Google Shape;650;p29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651" name="Google Shape;651;p29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652" name="Google Shape;652;p29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9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654" name="Google Shape;654;p29"/>
          <p:cNvSpPr txBox="1"/>
          <p:nvPr/>
        </p:nvSpPr>
        <p:spPr>
          <a:xfrm>
            <a:off x="5829168" y="126740"/>
            <a:ext cx="21498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655" name="Google Shape;655;p29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656" name="Google Shape;656;p29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657" name="Google Shape;657;p29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8" name="Google Shape;658;p29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0"/>
          <p:cNvSpPr txBox="1"/>
          <p:nvPr/>
        </p:nvSpPr>
        <p:spPr>
          <a:xfrm>
            <a:off x="464192" y="905522"/>
            <a:ext cx="46082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 dell’induttore in uscita</a:t>
            </a:r>
            <a:endParaRPr/>
          </a:p>
        </p:txBody>
      </p:sp>
      <p:pic>
        <p:nvPicPr>
          <p:cNvPr id="664" name="Google Shape;66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159" y="1527290"/>
            <a:ext cx="5349182" cy="1616224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30"/>
          <p:cNvSpPr txBox="1"/>
          <p:nvPr/>
        </p:nvSpPr>
        <p:spPr>
          <a:xfrm>
            <a:off x="6391922" y="1704513"/>
            <a:ext cx="4046685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66" l="-1356" r="0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6" name="Google Shape;666;p30"/>
          <p:cNvSpPr/>
          <p:nvPr/>
        </p:nvSpPr>
        <p:spPr>
          <a:xfrm>
            <a:off x="6391922" y="2335402"/>
            <a:ext cx="1302793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-4224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7" name="Google Shape;667;p30"/>
          <p:cNvSpPr/>
          <p:nvPr/>
        </p:nvSpPr>
        <p:spPr>
          <a:xfrm>
            <a:off x="535619" y="3348858"/>
            <a:ext cx="1132494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 un punto di vista industriale, l’induttore in uscita viene dimensionato per non avere corrente negativa quando la corrente uscita è almeno il 20-30% della corrente nominale. Si considera dunque la condizione al contorno tra corrente negativa e positiva è il 20% della corrente nominale.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0"/>
          <p:cNvSpPr/>
          <p:nvPr/>
        </p:nvSpPr>
        <p:spPr>
          <a:xfrm>
            <a:off x="464192" y="4418527"/>
            <a:ext cx="9579161" cy="69807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9" name="Google Shape;669;p30"/>
          <p:cNvSpPr txBox="1"/>
          <p:nvPr/>
        </p:nvSpPr>
        <p:spPr>
          <a:xfrm>
            <a:off x="2694367" y="5339314"/>
            <a:ext cx="1446165" cy="30309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5999" l="-3795" r="-42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70" name="Google Shape;670;p30"/>
          <p:cNvCxnSpPr/>
          <p:nvPr/>
        </p:nvCxnSpPr>
        <p:spPr>
          <a:xfrm rot="10800000">
            <a:off x="3214893" y="4888762"/>
            <a:ext cx="0" cy="43083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1" name="Google Shape;671;p30"/>
          <p:cNvSpPr txBox="1"/>
          <p:nvPr/>
        </p:nvSpPr>
        <p:spPr>
          <a:xfrm>
            <a:off x="535619" y="5907867"/>
            <a:ext cx="2234843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9" l="-2458" r="-272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2" name="Google Shape;672;p30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673" name="Google Shape;673;p30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18/50</a:t>
            </a:r>
            <a:endParaRPr/>
          </a:p>
        </p:txBody>
      </p:sp>
      <p:sp>
        <p:nvSpPr>
          <p:cNvPr id="674" name="Google Shape;674;p30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675" name="Google Shape;675;p30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676" name="Google Shape;676;p30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0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678" name="Google Shape;678;p30"/>
          <p:cNvSpPr txBox="1"/>
          <p:nvPr/>
        </p:nvSpPr>
        <p:spPr>
          <a:xfrm>
            <a:off x="5829168" y="126740"/>
            <a:ext cx="21498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679" name="Google Shape;679;p30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680" name="Google Shape;680;p30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681" name="Google Shape;681;p30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2" name="Google Shape;682;p30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1"/>
          <p:cNvSpPr txBox="1"/>
          <p:nvPr/>
        </p:nvSpPr>
        <p:spPr>
          <a:xfrm>
            <a:off x="464192" y="905522"/>
            <a:ext cx="2885085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7690" l="-2113" r="0" t="-922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88" name="Google Shape;688;p31"/>
          <p:cNvSpPr txBox="1"/>
          <p:nvPr/>
        </p:nvSpPr>
        <p:spPr>
          <a:xfrm>
            <a:off x="577300" y="1412704"/>
            <a:ext cx="1718804" cy="3021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285" l="-2836" r="-212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89" name="Google Shape;689;p31"/>
          <p:cNvSpPr txBox="1"/>
          <p:nvPr/>
        </p:nvSpPr>
        <p:spPr>
          <a:xfrm>
            <a:off x="528963" y="1816167"/>
            <a:ext cx="6974794" cy="3945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8461" l="-786" r="0" t="-76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0" name="Google Shape;690;p31"/>
          <p:cNvSpPr txBox="1"/>
          <p:nvPr/>
        </p:nvSpPr>
        <p:spPr>
          <a:xfrm>
            <a:off x="577783" y="2311963"/>
            <a:ext cx="8066952" cy="65261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1" name="Google Shape;691;p31"/>
          <p:cNvSpPr txBox="1"/>
          <p:nvPr/>
        </p:nvSpPr>
        <p:spPr>
          <a:xfrm>
            <a:off x="528963" y="3079924"/>
            <a:ext cx="2401555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4589" l="-2282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2" name="Google Shape;692;p31"/>
          <p:cNvSpPr txBox="1"/>
          <p:nvPr/>
        </p:nvSpPr>
        <p:spPr>
          <a:xfrm>
            <a:off x="464192" y="3728852"/>
            <a:ext cx="2883482" cy="40011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7690" l="-2113" r="0" t="-922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3" name="Google Shape;693;p31"/>
          <p:cNvSpPr txBox="1"/>
          <p:nvPr/>
        </p:nvSpPr>
        <p:spPr>
          <a:xfrm>
            <a:off x="577300" y="4241646"/>
            <a:ext cx="1580689" cy="30309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5999" l="-3472" r="-270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4" name="Google Shape;694;p31"/>
          <p:cNvSpPr txBox="1"/>
          <p:nvPr/>
        </p:nvSpPr>
        <p:spPr>
          <a:xfrm>
            <a:off x="528963" y="4651527"/>
            <a:ext cx="6889707" cy="39542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8460" l="-795" r="0" t="-615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5" name="Google Shape;695;p31"/>
          <p:cNvSpPr txBox="1"/>
          <p:nvPr/>
        </p:nvSpPr>
        <p:spPr>
          <a:xfrm>
            <a:off x="577300" y="5118462"/>
            <a:ext cx="6282168" cy="62824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6" name="Google Shape;696;p31"/>
          <p:cNvSpPr txBox="1"/>
          <p:nvPr/>
        </p:nvSpPr>
        <p:spPr>
          <a:xfrm>
            <a:off x="528963" y="5852414"/>
            <a:ext cx="2348656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24589" l="-2337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7" name="Google Shape;697;p31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698" name="Google Shape;698;p31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19/50</a:t>
            </a:r>
            <a:endParaRPr/>
          </a:p>
        </p:txBody>
      </p:sp>
      <p:sp>
        <p:nvSpPr>
          <p:cNvPr id="699" name="Google Shape;699;p31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700" name="Google Shape;700;p31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701" name="Google Shape;701;p31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1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703" name="Google Shape;703;p31"/>
          <p:cNvSpPr txBox="1"/>
          <p:nvPr/>
        </p:nvSpPr>
        <p:spPr>
          <a:xfrm>
            <a:off x="5829168" y="126740"/>
            <a:ext cx="21498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704" name="Google Shape;704;p31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705" name="Google Shape;705;p31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706" name="Google Shape;706;p31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7" name="Google Shape;707;p31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2"/>
          <p:cNvSpPr txBox="1"/>
          <p:nvPr/>
        </p:nvSpPr>
        <p:spPr>
          <a:xfrm>
            <a:off x="464192" y="905522"/>
            <a:ext cx="46601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 della capacità in uscita</a:t>
            </a:r>
            <a:endParaRPr/>
          </a:p>
        </p:txBody>
      </p:sp>
      <p:sp>
        <p:nvSpPr>
          <p:cNvPr id="713" name="Google Shape;713;p32"/>
          <p:cNvSpPr txBox="1"/>
          <p:nvPr/>
        </p:nvSpPr>
        <p:spPr>
          <a:xfrm>
            <a:off x="464192" y="1446679"/>
            <a:ext cx="10651958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149" l="-457" r="0" t="-47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4" name="Google Shape;714;p32"/>
          <p:cNvSpPr txBox="1"/>
          <p:nvPr/>
        </p:nvSpPr>
        <p:spPr>
          <a:xfrm>
            <a:off x="513636" y="2245526"/>
            <a:ext cx="5058308" cy="66826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5" name="Google Shape;715;p32"/>
          <p:cNvSpPr txBox="1"/>
          <p:nvPr/>
        </p:nvSpPr>
        <p:spPr>
          <a:xfrm>
            <a:off x="513636" y="2975581"/>
            <a:ext cx="9860520" cy="5572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172" l="-49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6" name="Google Shape;716;p32"/>
          <p:cNvSpPr txBox="1"/>
          <p:nvPr/>
        </p:nvSpPr>
        <p:spPr>
          <a:xfrm>
            <a:off x="513636" y="3611691"/>
            <a:ext cx="82499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scelgono due capacitori da 220µF in parallelo.</a:t>
            </a:r>
            <a:endParaRPr/>
          </a:p>
        </p:txBody>
      </p:sp>
      <p:sp>
        <p:nvSpPr>
          <p:cNvPr id="717" name="Google Shape;717;p32"/>
          <p:cNvSpPr txBox="1"/>
          <p:nvPr/>
        </p:nvSpPr>
        <p:spPr>
          <a:xfrm>
            <a:off x="464192" y="4345606"/>
            <a:ext cx="47849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 della resistenza in uscita</a:t>
            </a:r>
            <a:endParaRPr/>
          </a:p>
        </p:txBody>
      </p:sp>
      <p:sp>
        <p:nvSpPr>
          <p:cNvPr id="718" name="Google Shape;718;p32"/>
          <p:cNvSpPr txBox="1"/>
          <p:nvPr/>
        </p:nvSpPr>
        <p:spPr>
          <a:xfrm>
            <a:off x="485968" y="4902189"/>
            <a:ext cx="675710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-811" r="-88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9" name="Google Shape;719;p32"/>
          <p:cNvSpPr txBox="1"/>
          <p:nvPr/>
        </p:nvSpPr>
        <p:spPr>
          <a:xfrm>
            <a:off x="513636" y="5427994"/>
            <a:ext cx="2367508" cy="61074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0" name="Google Shape;720;p32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721" name="Google Shape;721;p32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20/50</a:t>
            </a:r>
            <a:endParaRPr/>
          </a:p>
        </p:txBody>
      </p:sp>
      <p:sp>
        <p:nvSpPr>
          <p:cNvPr id="722" name="Google Shape;722;p32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723" name="Google Shape;723;p32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724" name="Google Shape;724;p32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2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726" name="Google Shape;726;p32"/>
          <p:cNvSpPr txBox="1"/>
          <p:nvPr/>
        </p:nvSpPr>
        <p:spPr>
          <a:xfrm>
            <a:off x="5829168" y="126740"/>
            <a:ext cx="21498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727" name="Google Shape;727;p32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728" name="Google Shape;728;p32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729" name="Google Shape;729;p32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0" name="Google Shape;730;p32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3"/>
          <p:cNvSpPr txBox="1"/>
          <p:nvPr/>
        </p:nvSpPr>
        <p:spPr>
          <a:xfrm>
            <a:off x="464192" y="905522"/>
            <a:ext cx="449475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Componenti proposti per la simulazione </a:t>
            </a:r>
            <a:endParaRPr/>
          </a:p>
        </p:txBody>
      </p:sp>
      <p:graphicFrame>
        <p:nvGraphicFramePr>
          <p:cNvPr id="736" name="Google Shape;736;p33"/>
          <p:cNvGraphicFramePr/>
          <p:nvPr/>
        </p:nvGraphicFramePr>
        <p:xfrm>
          <a:off x="2032000" y="17553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{45B4574E-5275-4C1F-AE79-F6D1C1B99E57}</a:tableStyleId>
              </a:tblPr>
              <a:tblGrid>
                <a:gridCol w="4064000"/>
                <a:gridCol w="406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Componenti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Specifiche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Interruttori MOSFET S</a:t>
                      </a:r>
                      <a:r>
                        <a:rPr baseline="-25000" lang="it-IT" sz="1800"/>
                        <a:t>1</a:t>
                      </a:r>
                      <a:r>
                        <a:rPr lang="it-IT" sz="1800"/>
                        <a:t>,S</a:t>
                      </a:r>
                      <a:r>
                        <a:rPr baseline="-25000" lang="it-IT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STP120NF10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Diodo D</a:t>
                      </a:r>
                      <a:r>
                        <a:rPr baseline="-25000" lang="it-IT" sz="1800"/>
                        <a:t>b</a:t>
                      </a:r>
                      <a:endParaRPr baseline="-2500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Diodo Schottky V20120C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Condensatore di buffer C</a:t>
                      </a:r>
                      <a:r>
                        <a:rPr baseline="-25000" lang="it-IT" sz="1800"/>
                        <a:t>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Elettrolitico, 220µF/50V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Condensatore di trasferimento di energia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Elettrolitico, 100µF/100V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Condensatore in uscita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it-IT" sz="1800"/>
                        <a:t>Elettrolitici, due 220µF/100V in parallelo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Induttore accoppiato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n=3, L</a:t>
                      </a:r>
                      <a:r>
                        <a:rPr baseline="-25000" lang="it-IT" sz="1800"/>
                        <a:t>m</a:t>
                      </a:r>
                      <a:r>
                        <a:rPr lang="it-IT" sz="1800"/>
                        <a:t>=148,7</a:t>
                      </a:r>
                      <a:r>
                        <a:rPr lang="it-IT" sz="1800"/>
                        <a:t>µH, L</a:t>
                      </a:r>
                      <a:r>
                        <a:rPr baseline="-25000" lang="it-IT" sz="1800"/>
                        <a:t>lk</a:t>
                      </a:r>
                      <a:r>
                        <a:rPr lang="it-IT" sz="1800"/>
                        <a:t>=0,3µH, k=0,997</a:t>
                      </a:r>
                      <a:endParaRPr baseline="-2500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Induttore in uscita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L</a:t>
                      </a:r>
                      <a:r>
                        <a:rPr baseline="-25000" lang="it-IT" sz="1800"/>
                        <a:t>o</a:t>
                      </a:r>
                      <a:r>
                        <a:rPr lang="it-IT" sz="1800"/>
                        <a:t>=188</a:t>
                      </a:r>
                      <a:r>
                        <a:rPr lang="it-IT" sz="1800"/>
                        <a:t>µH</a:t>
                      </a:r>
                      <a:endParaRPr baseline="-2500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Resistore in uscita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R=86,4Ω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37" name="Google Shape;737;p33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738" name="Google Shape;738;p33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21/50</a:t>
            </a:r>
            <a:endParaRPr/>
          </a:p>
        </p:txBody>
      </p:sp>
      <p:sp>
        <p:nvSpPr>
          <p:cNvPr id="739" name="Google Shape;739;p33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740" name="Google Shape;740;p33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741" name="Google Shape;741;p33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3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743" name="Google Shape;743;p33"/>
          <p:cNvSpPr txBox="1"/>
          <p:nvPr/>
        </p:nvSpPr>
        <p:spPr>
          <a:xfrm>
            <a:off x="5829168" y="126740"/>
            <a:ext cx="21498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744" name="Google Shape;744;p33"/>
          <p:cNvSpPr txBox="1"/>
          <p:nvPr/>
        </p:nvSpPr>
        <p:spPr>
          <a:xfrm>
            <a:off x="8534774" y="176860"/>
            <a:ext cx="10647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745" name="Google Shape;745;p33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746" name="Google Shape;746;p33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7" name="Google Shape;747;p33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4"/>
          <p:cNvSpPr txBox="1"/>
          <p:nvPr/>
        </p:nvSpPr>
        <p:spPr>
          <a:xfrm>
            <a:off x="701286" y="1331920"/>
            <a:ext cx="1122912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la simulazione sono stati scelti componenti diversi da quelli proposti nel documento in quanto non presenti nell’elenco di LTSpice.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Essi sono in ogni caso i più simili possibile a quelli proposti. In seguito ne sono mostrate le caratteristiche salienti. </a:t>
            </a:r>
            <a:endParaRPr/>
          </a:p>
        </p:txBody>
      </p:sp>
      <p:sp>
        <p:nvSpPr>
          <p:cNvPr id="753" name="Google Shape;753;p34"/>
          <p:cNvSpPr txBox="1"/>
          <p:nvPr/>
        </p:nvSpPr>
        <p:spPr>
          <a:xfrm>
            <a:off x="918761" y="2158658"/>
            <a:ext cx="10372233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MOSFET STB120NF10, NMOS, R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=9mΩ, V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=100V, I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=200pA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pilotati da due generatori di tensione ad onda quadra con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T=10,2µs, T</a:t>
            </a:r>
            <a:r>
              <a:rPr b="0" baseline="-2500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rise</a:t>
            </a: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=0,1µs, T</a:t>
            </a:r>
            <a:r>
              <a:rPr b="0" baseline="-2500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fall</a:t>
            </a: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=0,1µs, D=0,5 (da cui T</a:t>
            </a:r>
            <a:r>
              <a:rPr b="0" baseline="-2500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=T</a:t>
            </a:r>
            <a:r>
              <a:rPr b="0" baseline="-2500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</a:t>
            </a: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=5µs)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Tdelay = 5,1µs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0" baseline="-2500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=12V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NB: è possibile che a causa delle non idealità nei tempi di commutazione dei switch i risultati della simulazione non coincidano con quelli teorici.</a:t>
            </a:r>
            <a:endParaRPr/>
          </a:p>
        </p:txBody>
      </p:sp>
      <p:sp>
        <p:nvSpPr>
          <p:cNvPr id="754" name="Google Shape;754;p34"/>
          <p:cNvSpPr txBox="1"/>
          <p:nvPr/>
        </p:nvSpPr>
        <p:spPr>
          <a:xfrm>
            <a:off x="918761" y="4959425"/>
            <a:ext cx="48638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Diodo Schottky RB238T100, I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=33nA, V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=110V</a:t>
            </a:r>
            <a:endParaRPr/>
          </a:p>
        </p:txBody>
      </p:sp>
      <p:sp>
        <p:nvSpPr>
          <p:cNvPr id="755" name="Google Shape;755;p34"/>
          <p:cNvSpPr txBox="1"/>
          <p:nvPr/>
        </p:nvSpPr>
        <p:spPr>
          <a:xfrm>
            <a:off x="910334" y="5396857"/>
            <a:ext cx="2646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Ns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=900µH, L</a:t>
            </a:r>
            <a:r>
              <a:rPr baseline="-25000"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=100µH </a:t>
            </a:r>
            <a:endParaRPr/>
          </a:p>
        </p:txBody>
      </p:sp>
      <p:sp>
        <p:nvSpPr>
          <p:cNvPr id="756" name="Google Shape;756;p34"/>
          <p:cNvSpPr txBox="1"/>
          <p:nvPr/>
        </p:nvSpPr>
        <p:spPr>
          <a:xfrm>
            <a:off x="701286" y="5841847"/>
            <a:ext cx="53588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effettua un’analisi dei risultati per un tempo di 50ms.</a:t>
            </a:r>
            <a:endParaRPr/>
          </a:p>
        </p:txBody>
      </p:sp>
      <p:sp>
        <p:nvSpPr>
          <p:cNvPr id="757" name="Google Shape;757;p34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758" name="Google Shape;758;p34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22/50</a:t>
            </a:r>
            <a:endParaRPr/>
          </a:p>
        </p:txBody>
      </p:sp>
      <p:sp>
        <p:nvSpPr>
          <p:cNvPr id="759" name="Google Shape;759;p34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760" name="Google Shape;760;p34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761" name="Google Shape;761;p34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4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763" name="Google Shape;763;p34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764" name="Google Shape;764;p34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5" name="Google Shape;765;p34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6" name="Google Shape;766;p34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767" name="Google Shape;767;p34"/>
          <p:cNvSpPr txBox="1"/>
          <p:nvPr/>
        </p:nvSpPr>
        <p:spPr>
          <a:xfrm>
            <a:off x="464192" y="905522"/>
            <a:ext cx="410003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Componenti scelti per la simulazione</a:t>
            </a:r>
            <a:endParaRPr/>
          </a:p>
        </p:txBody>
      </p:sp>
      <p:sp>
        <p:nvSpPr>
          <p:cNvPr id="768" name="Google Shape;768;p34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5"/>
          <p:cNvSpPr txBox="1"/>
          <p:nvPr/>
        </p:nvSpPr>
        <p:spPr>
          <a:xfrm>
            <a:off x="341016" y="1368895"/>
            <a:ext cx="107935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procede alla simulazione del circuito così dimensionato mediante il software LTSpice.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 seguito sono mostrati il circuito realizzato e le alimentazioni che pilotano i MOSFET utilizzati come interruttori. </a:t>
            </a:r>
            <a:endParaRPr/>
          </a:p>
        </p:txBody>
      </p:sp>
      <p:pic>
        <p:nvPicPr>
          <p:cNvPr id="774" name="Google Shape;77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461" y="2051177"/>
            <a:ext cx="7962148" cy="4259068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35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776" name="Google Shape;776;p35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23/50</a:t>
            </a:r>
            <a:endParaRPr/>
          </a:p>
        </p:txBody>
      </p:sp>
      <p:sp>
        <p:nvSpPr>
          <p:cNvPr id="777" name="Google Shape;777;p35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778" name="Google Shape;778;p35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779" name="Google Shape;779;p35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5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781" name="Google Shape;781;p35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782" name="Google Shape;782;p35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783" name="Google Shape;783;p35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784" name="Google Shape;784;p35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5" name="Google Shape;785;p35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6" name="Google Shape;786;p35"/>
          <p:cNvSpPr txBox="1"/>
          <p:nvPr/>
        </p:nvSpPr>
        <p:spPr>
          <a:xfrm>
            <a:off x="464192" y="905522"/>
            <a:ext cx="27017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Realizzazione su LTspice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6"/>
          <p:cNvSpPr txBox="1"/>
          <p:nvPr/>
        </p:nvSpPr>
        <p:spPr>
          <a:xfrm>
            <a:off x="286185" y="723001"/>
            <a:ext cx="306455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Risultati: Tensione in uscita</a:t>
            </a:r>
            <a:endParaRPr/>
          </a:p>
        </p:txBody>
      </p:sp>
      <p:sp>
        <p:nvSpPr>
          <p:cNvPr id="792" name="Google Shape;792;p36"/>
          <p:cNvSpPr txBox="1"/>
          <p:nvPr/>
        </p:nvSpPr>
        <p:spPr>
          <a:xfrm>
            <a:off x="6652140" y="1089593"/>
            <a:ext cx="4927106" cy="356071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82" l="-98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793" name="Google Shape;79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736" y="1149665"/>
            <a:ext cx="5731265" cy="2493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9753" y="3712049"/>
            <a:ext cx="5728248" cy="2562398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36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796" name="Google Shape;796;p36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24/50</a:t>
            </a:r>
            <a:endParaRPr/>
          </a:p>
        </p:txBody>
      </p:sp>
      <p:sp>
        <p:nvSpPr>
          <p:cNvPr id="797" name="Google Shape;797;p36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798" name="Google Shape;798;p36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799" name="Google Shape;799;p36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6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801" name="Google Shape;801;p36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802" name="Google Shape;802;p36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803" name="Google Shape;803;p36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804" name="Google Shape;804;p36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5" name="Google Shape;805;p36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7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811" name="Google Shape;811;p37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25/50</a:t>
            </a:r>
            <a:endParaRPr/>
          </a:p>
        </p:txBody>
      </p:sp>
      <p:sp>
        <p:nvSpPr>
          <p:cNvPr id="812" name="Google Shape;812;p37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813" name="Google Shape;813;p37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814" name="Google Shape;814;p37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7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816" name="Google Shape;816;p37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817" name="Google Shape;817;p37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818" name="Google Shape;818;p37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819" name="Google Shape;819;p37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0" name="Google Shape;820;p37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1" name="Google Shape;821;p37"/>
          <p:cNvSpPr txBox="1"/>
          <p:nvPr/>
        </p:nvSpPr>
        <p:spPr>
          <a:xfrm>
            <a:off x="325844" y="708244"/>
            <a:ext cx="2252411" cy="42774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999" l="-2702" r="0" t="-57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22" name="Google Shape;822;p37"/>
          <p:cNvSpPr txBox="1"/>
          <p:nvPr/>
        </p:nvSpPr>
        <p:spPr>
          <a:xfrm>
            <a:off x="6492451" y="1095569"/>
            <a:ext cx="5104660" cy="26062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54" r="-595" t="-140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823" name="Google Shape;82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8806" y="1107091"/>
            <a:ext cx="5612732" cy="2552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8"/>
          <p:cNvSpPr txBox="1"/>
          <p:nvPr/>
        </p:nvSpPr>
        <p:spPr>
          <a:xfrm>
            <a:off x="325844" y="708244"/>
            <a:ext cx="2252411" cy="42774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999" l="-2702" r="0" t="-57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29" name="Google Shape;829;p38"/>
          <p:cNvSpPr txBox="1"/>
          <p:nvPr/>
        </p:nvSpPr>
        <p:spPr>
          <a:xfrm>
            <a:off x="6492451" y="1095569"/>
            <a:ext cx="5104660" cy="26062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54" r="-595" t="-140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830" name="Google Shape;83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8806" y="1107091"/>
            <a:ext cx="5612732" cy="255234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38"/>
          <p:cNvSpPr/>
          <p:nvPr/>
        </p:nvSpPr>
        <p:spPr>
          <a:xfrm>
            <a:off x="6492451" y="3695097"/>
            <a:ext cx="6016186" cy="23533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107" l="-80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832" name="Google Shape;832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8806" y="3703068"/>
            <a:ext cx="5612732" cy="2552424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8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834" name="Google Shape;834;p38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25/50</a:t>
            </a:r>
            <a:endParaRPr/>
          </a:p>
        </p:txBody>
      </p:sp>
      <p:sp>
        <p:nvSpPr>
          <p:cNvPr id="835" name="Google Shape;835;p38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836" name="Google Shape;836;p38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837" name="Google Shape;837;p38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8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839" name="Google Shape;839;p38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840" name="Google Shape;840;p38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841" name="Google Shape;841;p38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842" name="Google Shape;842;p38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3" name="Google Shape;843;p38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9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849" name="Google Shape;849;p39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26/50</a:t>
            </a:r>
            <a:endParaRPr/>
          </a:p>
        </p:txBody>
      </p:sp>
      <p:sp>
        <p:nvSpPr>
          <p:cNvPr id="850" name="Google Shape;850;p39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851" name="Google Shape;851;p39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852" name="Google Shape;852;p39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9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854" name="Google Shape;854;p39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855" name="Google Shape;855;p39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856" name="Google Shape;856;p39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857" name="Google Shape;857;p39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8" name="Google Shape;858;p39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9" name="Google Shape;859;p39"/>
          <p:cNvSpPr txBox="1"/>
          <p:nvPr/>
        </p:nvSpPr>
        <p:spPr>
          <a:xfrm>
            <a:off x="321938" y="678167"/>
            <a:ext cx="2514406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5755" l="-2669" r="0" t="-75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60" name="Google Shape;860;p39"/>
          <p:cNvSpPr txBox="1"/>
          <p:nvPr/>
        </p:nvSpPr>
        <p:spPr>
          <a:xfrm>
            <a:off x="6847234" y="1067715"/>
            <a:ext cx="4526880" cy="21900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76" r="0" t="-13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861" name="Google Shape;86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4899" y="1107618"/>
            <a:ext cx="6055219" cy="2469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0"/>
          <p:cNvSpPr txBox="1"/>
          <p:nvPr/>
        </p:nvSpPr>
        <p:spPr>
          <a:xfrm>
            <a:off x="321938" y="678167"/>
            <a:ext cx="2514406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5755" l="-2669" r="0" t="-75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67" name="Google Shape;867;p40"/>
          <p:cNvSpPr txBox="1"/>
          <p:nvPr/>
        </p:nvSpPr>
        <p:spPr>
          <a:xfrm>
            <a:off x="6847234" y="1067715"/>
            <a:ext cx="4526880" cy="21900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76" r="0" t="-13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868" name="Google Shape;86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4899" y="1107618"/>
            <a:ext cx="6055219" cy="2469206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40"/>
          <p:cNvSpPr/>
          <p:nvPr/>
        </p:nvSpPr>
        <p:spPr>
          <a:xfrm>
            <a:off x="6847234" y="4474232"/>
            <a:ext cx="4986292" cy="171258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977" r="0" t="-24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870" name="Google Shape;870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4899" y="3652484"/>
            <a:ext cx="6055220" cy="2534332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40"/>
          <p:cNvSpPr txBox="1"/>
          <p:nvPr/>
        </p:nvSpPr>
        <p:spPr>
          <a:xfrm>
            <a:off x="6847234" y="3808135"/>
            <a:ext cx="1837811" cy="3945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72" name="Google Shape;872;p40"/>
          <p:cNvSpPr txBox="1"/>
          <p:nvPr/>
        </p:nvSpPr>
        <p:spPr>
          <a:xfrm>
            <a:off x="9237099" y="3806148"/>
            <a:ext cx="1805751" cy="39651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7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73" name="Google Shape;873;p40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874" name="Google Shape;874;p40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26/50</a:t>
            </a:r>
            <a:endParaRPr/>
          </a:p>
        </p:txBody>
      </p:sp>
      <p:sp>
        <p:nvSpPr>
          <p:cNvPr id="875" name="Google Shape;875;p40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876" name="Google Shape;876;p40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877" name="Google Shape;877;p40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0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879" name="Google Shape;879;p40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880" name="Google Shape;880;p40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881" name="Google Shape;881;p40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882" name="Google Shape;882;p40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3" name="Google Shape;883;p40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1"/>
          <p:cNvSpPr txBox="1"/>
          <p:nvPr/>
        </p:nvSpPr>
        <p:spPr>
          <a:xfrm>
            <a:off x="299296" y="787809"/>
            <a:ext cx="327724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Risultati: Induttori accoppiati</a:t>
            </a:r>
            <a:endParaRPr/>
          </a:p>
        </p:txBody>
      </p:sp>
      <p:sp>
        <p:nvSpPr>
          <p:cNvPr id="889" name="Google Shape;889;p41"/>
          <p:cNvSpPr txBox="1"/>
          <p:nvPr/>
        </p:nvSpPr>
        <p:spPr>
          <a:xfrm>
            <a:off x="6739780" y="956863"/>
            <a:ext cx="5143909" cy="33566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67" r="0" t="-1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90" name="Google Shape;890;p41"/>
          <p:cNvSpPr txBox="1"/>
          <p:nvPr/>
        </p:nvSpPr>
        <p:spPr>
          <a:xfrm>
            <a:off x="6697397" y="1299349"/>
            <a:ext cx="5191293" cy="65768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91" name="Google Shape;891;p41"/>
          <p:cNvSpPr/>
          <p:nvPr/>
        </p:nvSpPr>
        <p:spPr>
          <a:xfrm>
            <a:off x="6697397" y="1932084"/>
            <a:ext cx="5639621" cy="43633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8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892" name="Google Shape;892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135" y="1187919"/>
            <a:ext cx="5901361" cy="2677955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41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894" name="Google Shape;894;p41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27/50</a:t>
            </a:r>
            <a:endParaRPr/>
          </a:p>
        </p:txBody>
      </p:sp>
      <p:sp>
        <p:nvSpPr>
          <p:cNvPr id="895" name="Google Shape;895;p41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896" name="Google Shape;896;p41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897" name="Google Shape;897;p41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1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899" name="Google Shape;899;p41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900" name="Google Shape;900;p41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901" name="Google Shape;901;p41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902" name="Google Shape;902;p41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3" name="Google Shape;903;p41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2"/>
          <p:cNvSpPr txBox="1"/>
          <p:nvPr/>
        </p:nvSpPr>
        <p:spPr>
          <a:xfrm>
            <a:off x="299296" y="787809"/>
            <a:ext cx="327724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Risultati: Induttori accoppiati</a:t>
            </a:r>
            <a:endParaRPr/>
          </a:p>
        </p:txBody>
      </p:sp>
      <p:sp>
        <p:nvSpPr>
          <p:cNvPr id="909" name="Google Shape;909;p42"/>
          <p:cNvSpPr txBox="1"/>
          <p:nvPr/>
        </p:nvSpPr>
        <p:spPr>
          <a:xfrm>
            <a:off x="6739780" y="956863"/>
            <a:ext cx="5143909" cy="33566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67" r="0" t="-1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10" name="Google Shape;910;p42"/>
          <p:cNvSpPr txBox="1"/>
          <p:nvPr/>
        </p:nvSpPr>
        <p:spPr>
          <a:xfrm>
            <a:off x="6697397" y="1299349"/>
            <a:ext cx="5191293" cy="65768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11" name="Google Shape;911;p42"/>
          <p:cNvSpPr/>
          <p:nvPr/>
        </p:nvSpPr>
        <p:spPr>
          <a:xfrm>
            <a:off x="6697397" y="1932084"/>
            <a:ext cx="5639621" cy="43633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8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912" name="Google Shape;912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135" y="1187919"/>
            <a:ext cx="5901361" cy="2677955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42"/>
          <p:cNvSpPr txBox="1"/>
          <p:nvPr/>
        </p:nvSpPr>
        <p:spPr>
          <a:xfrm>
            <a:off x="6739780" y="4091302"/>
            <a:ext cx="5211193" cy="215084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682" l="-1053" r="0" t="-141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914" name="Google Shape;914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135" y="3941533"/>
            <a:ext cx="5901361" cy="2363966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42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916" name="Google Shape;916;p42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27/50</a:t>
            </a:r>
            <a:endParaRPr/>
          </a:p>
        </p:txBody>
      </p:sp>
      <p:sp>
        <p:nvSpPr>
          <p:cNvPr id="917" name="Google Shape;917;p42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918" name="Google Shape;918;p42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919" name="Google Shape;919;p42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2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921" name="Google Shape;921;p42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922" name="Google Shape;922;p42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923" name="Google Shape;923;p42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924" name="Google Shape;924;p42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5" name="Google Shape;925;p42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43"/>
          <p:cNvSpPr txBox="1"/>
          <p:nvPr/>
        </p:nvSpPr>
        <p:spPr>
          <a:xfrm>
            <a:off x="398173" y="849365"/>
            <a:ext cx="327724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Risultati: Induttori accoppiati</a:t>
            </a:r>
            <a:endParaRPr/>
          </a:p>
        </p:txBody>
      </p:sp>
      <p:sp>
        <p:nvSpPr>
          <p:cNvPr id="931" name="Google Shape;931;p43"/>
          <p:cNvSpPr txBox="1"/>
          <p:nvPr/>
        </p:nvSpPr>
        <p:spPr>
          <a:xfrm>
            <a:off x="6616823" y="2811879"/>
            <a:ext cx="3179653" cy="4218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592" l="-1532" r="0" t="-57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32" name="Google Shape;932;p43"/>
          <p:cNvSpPr/>
          <p:nvPr/>
        </p:nvSpPr>
        <p:spPr>
          <a:xfrm>
            <a:off x="6616823" y="1263577"/>
            <a:ext cx="6096000" cy="140333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34" l="-799" r="0" t="-217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933" name="Google Shape;93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173" y="1279279"/>
            <a:ext cx="6095999" cy="2427975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43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935" name="Google Shape;935;p43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28/50</a:t>
            </a:r>
            <a:endParaRPr/>
          </a:p>
        </p:txBody>
      </p:sp>
      <p:sp>
        <p:nvSpPr>
          <p:cNvPr id="936" name="Google Shape;936;p43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937" name="Google Shape;937;p43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938" name="Google Shape;938;p43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3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940" name="Google Shape;940;p43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941" name="Google Shape;941;p43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942" name="Google Shape;942;p43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943" name="Google Shape;943;p43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4" name="Google Shape;944;p43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44"/>
          <p:cNvSpPr txBox="1"/>
          <p:nvPr/>
        </p:nvSpPr>
        <p:spPr>
          <a:xfrm>
            <a:off x="398173" y="849365"/>
            <a:ext cx="327724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Risultati: Induttori accoppiati</a:t>
            </a:r>
            <a:endParaRPr/>
          </a:p>
        </p:txBody>
      </p:sp>
      <p:sp>
        <p:nvSpPr>
          <p:cNvPr id="950" name="Google Shape;950;p44"/>
          <p:cNvSpPr txBox="1"/>
          <p:nvPr/>
        </p:nvSpPr>
        <p:spPr>
          <a:xfrm>
            <a:off x="6616823" y="2811879"/>
            <a:ext cx="3179653" cy="4218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592" l="-1532" r="0" t="-57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51" name="Google Shape;951;p44"/>
          <p:cNvSpPr txBox="1"/>
          <p:nvPr/>
        </p:nvSpPr>
        <p:spPr>
          <a:xfrm>
            <a:off x="6616823" y="3616028"/>
            <a:ext cx="4755084" cy="140333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34" l="-1025" r="-511" t="-217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52" name="Google Shape;952;p44"/>
          <p:cNvSpPr txBox="1"/>
          <p:nvPr/>
        </p:nvSpPr>
        <p:spPr>
          <a:xfrm>
            <a:off x="6616823" y="5008564"/>
            <a:ext cx="5074723" cy="133632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6390" l="-958" r="-358" t="-27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53" name="Google Shape;953;p44"/>
          <p:cNvSpPr/>
          <p:nvPr/>
        </p:nvSpPr>
        <p:spPr>
          <a:xfrm>
            <a:off x="6616823" y="1263577"/>
            <a:ext cx="6096000" cy="140333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434" l="-799" r="0" t="-217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954" name="Google Shape;954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8173" y="3782912"/>
            <a:ext cx="6218650" cy="2510513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44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956" name="Google Shape;956;p44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28/50</a:t>
            </a:r>
            <a:endParaRPr/>
          </a:p>
        </p:txBody>
      </p:sp>
      <p:sp>
        <p:nvSpPr>
          <p:cNvPr id="957" name="Google Shape;957;p44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958" name="Google Shape;958;p44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959" name="Google Shape;959;p44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44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961" name="Google Shape;961;p44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962" name="Google Shape;962;p44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963" name="Google Shape;963;p44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964" name="Google Shape;964;p44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5" name="Google Shape;965;p44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66" name="Google Shape;966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8173" y="1256828"/>
            <a:ext cx="6218650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45"/>
          <p:cNvSpPr txBox="1"/>
          <p:nvPr/>
        </p:nvSpPr>
        <p:spPr>
          <a:xfrm>
            <a:off x="398173" y="849365"/>
            <a:ext cx="4662238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5755" l="-1306" r="0" t="-75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72" name="Google Shape;972;p45"/>
          <p:cNvSpPr txBox="1"/>
          <p:nvPr/>
        </p:nvSpPr>
        <p:spPr>
          <a:xfrm>
            <a:off x="6565771" y="1143705"/>
            <a:ext cx="5724644" cy="26250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51" r="0" t="-13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73" name="Google Shape;973;p45"/>
          <p:cNvSpPr txBox="1"/>
          <p:nvPr/>
        </p:nvSpPr>
        <p:spPr>
          <a:xfrm>
            <a:off x="6618656" y="1471184"/>
            <a:ext cx="5209952" cy="65768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74" name="Google Shape;974;p45"/>
          <p:cNvSpPr/>
          <p:nvPr/>
        </p:nvSpPr>
        <p:spPr>
          <a:xfrm>
            <a:off x="6611679" y="2195014"/>
            <a:ext cx="5658280" cy="40902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96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975" name="Google Shape;975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175" y="1249475"/>
            <a:ext cx="5637281" cy="2535945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45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977" name="Google Shape;977;p45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29/50</a:t>
            </a:r>
            <a:endParaRPr/>
          </a:p>
        </p:txBody>
      </p:sp>
      <p:sp>
        <p:nvSpPr>
          <p:cNvPr id="978" name="Google Shape;978;p45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979" name="Google Shape;979;p45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980" name="Google Shape;980;p45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5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982" name="Google Shape;982;p45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983" name="Google Shape;983;p45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984" name="Google Shape;984;p45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985" name="Google Shape;985;p45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6" name="Google Shape;986;p45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6"/>
          <p:cNvSpPr txBox="1"/>
          <p:nvPr/>
        </p:nvSpPr>
        <p:spPr>
          <a:xfrm>
            <a:off x="398173" y="849365"/>
            <a:ext cx="4662238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5755" l="-1306" r="0" t="-75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92" name="Google Shape;992;p46"/>
          <p:cNvSpPr txBox="1"/>
          <p:nvPr/>
        </p:nvSpPr>
        <p:spPr>
          <a:xfrm>
            <a:off x="6565771" y="1143705"/>
            <a:ext cx="5724644" cy="26250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51" r="0" t="-13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93" name="Google Shape;993;p46"/>
          <p:cNvSpPr txBox="1"/>
          <p:nvPr/>
        </p:nvSpPr>
        <p:spPr>
          <a:xfrm>
            <a:off x="6618656" y="1471184"/>
            <a:ext cx="5209952" cy="65768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94" name="Google Shape;994;p46"/>
          <p:cNvSpPr/>
          <p:nvPr/>
        </p:nvSpPr>
        <p:spPr>
          <a:xfrm>
            <a:off x="6611679" y="2195014"/>
            <a:ext cx="5658280" cy="40902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96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995" name="Google Shape;995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175" y="1249475"/>
            <a:ext cx="5637281" cy="2535945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46"/>
          <p:cNvSpPr/>
          <p:nvPr/>
        </p:nvSpPr>
        <p:spPr>
          <a:xfrm>
            <a:off x="6611679" y="4369330"/>
            <a:ext cx="5184800" cy="119635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97" name="Google Shape;997;p46"/>
          <p:cNvSpPr txBox="1"/>
          <p:nvPr/>
        </p:nvSpPr>
        <p:spPr>
          <a:xfrm>
            <a:off x="6565771" y="4043894"/>
            <a:ext cx="13251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Dalla teoria:</a:t>
            </a:r>
            <a:endParaRPr/>
          </a:p>
        </p:txBody>
      </p:sp>
      <p:sp>
        <p:nvSpPr>
          <p:cNvPr id="998" name="Google Shape;998;p46"/>
          <p:cNvSpPr txBox="1"/>
          <p:nvPr/>
        </p:nvSpPr>
        <p:spPr>
          <a:xfrm>
            <a:off x="6611679" y="5735901"/>
            <a:ext cx="3486211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4588" l="-1575" r="0" t="-983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999" name="Google Shape;999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9643" y="3844463"/>
            <a:ext cx="5637282" cy="2443205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46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001" name="Google Shape;1001;p46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29/50</a:t>
            </a:r>
            <a:endParaRPr/>
          </a:p>
        </p:txBody>
      </p:sp>
      <p:sp>
        <p:nvSpPr>
          <p:cNvPr id="1002" name="Google Shape;1002;p46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003" name="Google Shape;1003;p46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004" name="Google Shape;1004;p46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46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006" name="Google Shape;1006;p46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007" name="Google Shape;1007;p46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008" name="Google Shape;1008;p46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009" name="Google Shape;1009;p46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0" name="Google Shape;1010;p46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7"/>
          <p:cNvSpPr txBox="1"/>
          <p:nvPr/>
        </p:nvSpPr>
        <p:spPr>
          <a:xfrm>
            <a:off x="398173" y="849365"/>
            <a:ext cx="23793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Risultati: interruttori</a:t>
            </a:r>
            <a:endParaRPr/>
          </a:p>
        </p:txBody>
      </p:sp>
      <p:sp>
        <p:nvSpPr>
          <p:cNvPr id="1016" name="Google Shape;1016;p47"/>
          <p:cNvSpPr txBox="1"/>
          <p:nvPr/>
        </p:nvSpPr>
        <p:spPr>
          <a:xfrm>
            <a:off x="8713198" y="1914661"/>
            <a:ext cx="2752998" cy="10374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8822" l="-1769" r="-1104" t="-29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17" name="Google Shape;1017;p47"/>
          <p:cNvSpPr/>
          <p:nvPr/>
        </p:nvSpPr>
        <p:spPr>
          <a:xfrm>
            <a:off x="8713198" y="3623184"/>
            <a:ext cx="2964175" cy="103746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923" l="-1641" r="0" t="-292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18" name="Google Shape;1018;p47"/>
          <p:cNvSpPr txBox="1"/>
          <p:nvPr/>
        </p:nvSpPr>
        <p:spPr>
          <a:xfrm>
            <a:off x="8650388" y="1461864"/>
            <a:ext cx="18334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Stress di tensione</a:t>
            </a:r>
            <a:endParaRPr/>
          </a:p>
        </p:txBody>
      </p:sp>
      <p:pic>
        <p:nvPicPr>
          <p:cNvPr id="1019" name="Google Shape;1019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093" y="1378399"/>
            <a:ext cx="8101295" cy="4572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47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021" name="Google Shape;1021;p47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30/50</a:t>
            </a:r>
            <a:endParaRPr/>
          </a:p>
        </p:txBody>
      </p:sp>
      <p:sp>
        <p:nvSpPr>
          <p:cNvPr id="1022" name="Google Shape;1022;p47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023" name="Google Shape;1023;p47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024" name="Google Shape;1024;p47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47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026" name="Google Shape;1026;p47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027" name="Google Shape;1027;p47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028" name="Google Shape;1028;p47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029" name="Google Shape;1029;p47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0" name="Google Shape;1030;p47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48"/>
          <p:cNvSpPr txBox="1"/>
          <p:nvPr/>
        </p:nvSpPr>
        <p:spPr>
          <a:xfrm>
            <a:off x="398173" y="849365"/>
            <a:ext cx="5508367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5755" l="-1105" r="0" t="-75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36" name="Google Shape;1036;p48"/>
          <p:cNvSpPr txBox="1"/>
          <p:nvPr/>
        </p:nvSpPr>
        <p:spPr>
          <a:xfrm>
            <a:off x="7010400" y="1439333"/>
            <a:ext cx="4405052" cy="94852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7050" l="-1106" r="0" t="-32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37" name="Google Shape;1037;p48"/>
          <p:cNvSpPr txBox="1"/>
          <p:nvPr/>
        </p:nvSpPr>
        <p:spPr>
          <a:xfrm>
            <a:off x="7010400" y="2444485"/>
            <a:ext cx="4855945" cy="116596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003" r="0" t="-26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38" name="Google Shape;1038;p48"/>
          <p:cNvSpPr txBox="1"/>
          <p:nvPr/>
        </p:nvSpPr>
        <p:spPr>
          <a:xfrm>
            <a:off x="7010400" y="4225985"/>
            <a:ext cx="1948419" cy="76944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1903" l="-2499" r="-1561" t="-39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039" name="Google Shape;1039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5142" y="3492646"/>
            <a:ext cx="6214295" cy="277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48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041" name="Google Shape;1041;p48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31/50</a:t>
            </a:r>
            <a:endParaRPr/>
          </a:p>
        </p:txBody>
      </p:sp>
      <p:sp>
        <p:nvSpPr>
          <p:cNvPr id="1042" name="Google Shape;1042;p48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043" name="Google Shape;1043;p48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044" name="Google Shape;1044;p48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48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046" name="Google Shape;1046;p48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047" name="Google Shape;1047;p48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048" name="Google Shape;1048;p48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049" name="Google Shape;1049;p48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0" name="Google Shape;1050;p48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51" name="Google Shape;1051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0723" y="1278997"/>
            <a:ext cx="5941581" cy="2115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9"/>
          <p:cNvSpPr txBox="1"/>
          <p:nvPr/>
        </p:nvSpPr>
        <p:spPr>
          <a:xfrm>
            <a:off x="398173" y="849365"/>
            <a:ext cx="5508367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5755" l="-1105" r="0" t="-75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57" name="Google Shape;1057;p49"/>
          <p:cNvSpPr txBox="1"/>
          <p:nvPr/>
        </p:nvSpPr>
        <p:spPr>
          <a:xfrm>
            <a:off x="6995200" y="1187919"/>
            <a:ext cx="5235792" cy="223407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48" r="0" t="-16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58" name="Google Shape;1058;p49"/>
          <p:cNvSpPr txBox="1"/>
          <p:nvPr/>
        </p:nvSpPr>
        <p:spPr>
          <a:xfrm>
            <a:off x="7003853" y="3205806"/>
            <a:ext cx="1927194" cy="67518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908" l="-2847" r="-2531" t="-54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059" name="Google Shape;1059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4625" y="1299218"/>
            <a:ext cx="5913850" cy="2143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95200" y="4058259"/>
            <a:ext cx="4767713" cy="215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1240" y="3453857"/>
            <a:ext cx="6214924" cy="2797627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49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063" name="Google Shape;1063;p49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32/50</a:t>
            </a:r>
            <a:endParaRPr/>
          </a:p>
        </p:txBody>
      </p:sp>
      <p:sp>
        <p:nvSpPr>
          <p:cNvPr id="1064" name="Google Shape;1064;p49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065" name="Google Shape;1065;p49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066" name="Google Shape;1066;p49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49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068" name="Google Shape;1068;p49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069" name="Google Shape;1069;p49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070" name="Google Shape;1070;p49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071" name="Google Shape;1071;p49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2" name="Google Shape;1072;p49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50"/>
          <p:cNvSpPr txBox="1"/>
          <p:nvPr/>
        </p:nvSpPr>
        <p:spPr>
          <a:xfrm>
            <a:off x="398173" y="849365"/>
            <a:ext cx="2171748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5755" l="-2800" r="0" t="-75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78" name="Google Shape;1078;p50"/>
          <p:cNvSpPr txBox="1"/>
          <p:nvPr/>
        </p:nvSpPr>
        <p:spPr>
          <a:xfrm>
            <a:off x="6627309" y="1220645"/>
            <a:ext cx="5028300" cy="205742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69" r="0" t="-147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79" name="Google Shape;1079;p50"/>
          <p:cNvSpPr txBox="1"/>
          <p:nvPr/>
        </p:nvSpPr>
        <p:spPr>
          <a:xfrm>
            <a:off x="6627309" y="3352047"/>
            <a:ext cx="4122090" cy="39542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8461" l="-887" r="0" t="-76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080" name="Google Shape;1080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070" y="1243299"/>
            <a:ext cx="5923785" cy="25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50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082" name="Google Shape;1082;p50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33/50</a:t>
            </a:r>
            <a:endParaRPr/>
          </a:p>
        </p:txBody>
      </p:sp>
      <p:sp>
        <p:nvSpPr>
          <p:cNvPr id="1083" name="Google Shape;1083;p50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084" name="Google Shape;1084;p50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085" name="Google Shape;1085;p50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50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087" name="Google Shape;1087;p50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088" name="Google Shape;1088;p50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089" name="Google Shape;1089;p50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090" name="Google Shape;1090;p50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1" name="Google Shape;1091;p50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51"/>
          <p:cNvSpPr txBox="1"/>
          <p:nvPr/>
        </p:nvSpPr>
        <p:spPr>
          <a:xfrm>
            <a:off x="398173" y="849365"/>
            <a:ext cx="2171748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5755" l="-2800" r="0" t="-75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97" name="Google Shape;1097;p51"/>
          <p:cNvSpPr txBox="1"/>
          <p:nvPr/>
        </p:nvSpPr>
        <p:spPr>
          <a:xfrm>
            <a:off x="6627309" y="1220645"/>
            <a:ext cx="5028300" cy="205742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69" r="0" t="-147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98" name="Google Shape;1098;p51"/>
          <p:cNvSpPr txBox="1"/>
          <p:nvPr/>
        </p:nvSpPr>
        <p:spPr>
          <a:xfrm>
            <a:off x="6627309" y="3352047"/>
            <a:ext cx="4122090" cy="39542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8461" l="-887" r="0" t="-76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099" name="Google Shape;1099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070" y="1243299"/>
            <a:ext cx="5923785" cy="25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51"/>
          <p:cNvSpPr txBox="1"/>
          <p:nvPr/>
        </p:nvSpPr>
        <p:spPr>
          <a:xfrm>
            <a:off x="6859229" y="4583152"/>
            <a:ext cx="2619884" cy="40992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6416" l="0" r="0" t="-596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101" name="Google Shape;1101;p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518" y="3792548"/>
            <a:ext cx="5924337" cy="2513881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51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103" name="Google Shape;1103;p51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33/50</a:t>
            </a:r>
            <a:endParaRPr/>
          </a:p>
        </p:txBody>
      </p:sp>
      <p:sp>
        <p:nvSpPr>
          <p:cNvPr id="1104" name="Google Shape;1104;p51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105" name="Google Shape;1105;p51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106" name="Google Shape;1106;p51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51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108" name="Google Shape;1108;p51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109" name="Google Shape;1109;p51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110" name="Google Shape;1110;p51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111" name="Google Shape;1111;p51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2" name="Google Shape;1112;p51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7" name="Google Shape;111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903" y="1129017"/>
            <a:ext cx="4156280" cy="3355961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52"/>
          <p:cNvSpPr txBox="1"/>
          <p:nvPr/>
        </p:nvSpPr>
        <p:spPr>
          <a:xfrm>
            <a:off x="612754" y="4402349"/>
            <a:ext cx="457953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tensione ottenuta in questo progetto non è esattamente 72V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realtà, risultati già sperimentati precedentemente mostrano che il guadagno di tensione non è esattamente 6 ma peggiora a seconda del tipo di carico utilizzato. Il carico nominale è effettivamente il peggiore.</a:t>
            </a:r>
            <a:endParaRPr/>
          </a:p>
        </p:txBody>
      </p:sp>
      <p:pic>
        <p:nvPicPr>
          <p:cNvPr id="1119" name="Google Shape;111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2852" y="1249475"/>
            <a:ext cx="6061245" cy="331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52"/>
          <p:cNvSpPr txBox="1"/>
          <p:nvPr/>
        </p:nvSpPr>
        <p:spPr>
          <a:xfrm>
            <a:off x="5458049" y="4643408"/>
            <a:ext cx="612119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Ponendo un carico di 720Ω, che impone in uscita la corrente minima (0,1A), si ottiene effettivamente una tensione pressoché pari a 72V.</a:t>
            </a:r>
            <a:endParaRPr/>
          </a:p>
        </p:txBody>
      </p:sp>
      <p:sp>
        <p:nvSpPr>
          <p:cNvPr id="1121" name="Google Shape;1121;p52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122" name="Google Shape;1122;p52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34/50</a:t>
            </a:r>
            <a:endParaRPr/>
          </a:p>
        </p:txBody>
      </p:sp>
      <p:sp>
        <p:nvSpPr>
          <p:cNvPr id="1123" name="Google Shape;1123;p52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124" name="Google Shape;1124;p52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125" name="Google Shape;1125;p52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52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127" name="Google Shape;1127;p52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128" name="Google Shape;1128;p52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129" name="Google Shape;1129;p52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130" name="Google Shape;1130;p52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1" name="Google Shape;1131;p52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2" name="Google Shape;1132;p52"/>
          <p:cNvSpPr txBox="1"/>
          <p:nvPr/>
        </p:nvSpPr>
        <p:spPr>
          <a:xfrm>
            <a:off x="398173" y="849365"/>
            <a:ext cx="174515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Considerazioni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427" y="4087905"/>
            <a:ext cx="5262446" cy="22546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8" name="Google Shape;1138;p53"/>
          <p:cNvGraphicFramePr/>
          <p:nvPr/>
        </p:nvGraphicFramePr>
        <p:xfrm>
          <a:off x="5767874" y="2401662"/>
          <a:ext cx="6103045" cy="3954749"/>
        </p:xfrm>
        <a:graphic>
          <a:graphicData uri="http://schemas.openxmlformats.org/drawingml/2006/chart">
            <c:chart r:id="rId4"/>
          </a:graphicData>
        </a:graphic>
      </p:graphicFrame>
      <p:pic>
        <p:nvPicPr>
          <p:cNvPr id="1139" name="Google Shape;1139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016" y="1256552"/>
            <a:ext cx="5363857" cy="2775916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53"/>
          <p:cNvSpPr txBox="1"/>
          <p:nvPr/>
        </p:nvSpPr>
        <p:spPr>
          <a:xfrm>
            <a:off x="6026500" y="1201333"/>
            <a:ext cx="5778522" cy="120032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7105" l="-947" r="-843" t="-253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41" name="Google Shape;1141;p53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142" name="Google Shape;1142;p53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35/50</a:t>
            </a:r>
            <a:endParaRPr/>
          </a:p>
        </p:txBody>
      </p:sp>
      <p:sp>
        <p:nvSpPr>
          <p:cNvPr id="1143" name="Google Shape;1143;p53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144" name="Google Shape;1144;p53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145" name="Google Shape;1145;p53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53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147" name="Google Shape;1147;p53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148" name="Google Shape;1148;p53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149" name="Google Shape;1149;p53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150" name="Google Shape;1150;p53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1" name="Google Shape;1151;p53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2" name="Google Shape;1152;p53"/>
          <p:cNvSpPr txBox="1"/>
          <p:nvPr/>
        </p:nvSpPr>
        <p:spPr>
          <a:xfrm>
            <a:off x="398173" y="849365"/>
            <a:ext cx="174515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Considerazioni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173" y="3694046"/>
            <a:ext cx="5697827" cy="2407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173" y="1283651"/>
            <a:ext cx="5688949" cy="2376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3632" y="1283650"/>
            <a:ext cx="5634838" cy="2376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54"/>
          <p:cNvSpPr txBox="1"/>
          <p:nvPr/>
        </p:nvSpPr>
        <p:spPr>
          <a:xfrm>
            <a:off x="6096000" y="4611437"/>
            <a:ext cx="5978368" cy="57284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61" name="Google Shape;1161;p54"/>
          <p:cNvSpPr txBox="1"/>
          <p:nvPr/>
        </p:nvSpPr>
        <p:spPr>
          <a:xfrm>
            <a:off x="398173" y="849365"/>
            <a:ext cx="119244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Efficienza</a:t>
            </a:r>
            <a:endParaRPr/>
          </a:p>
        </p:txBody>
      </p:sp>
      <p:sp>
        <p:nvSpPr>
          <p:cNvPr id="1162" name="Google Shape;1162;p54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163" name="Google Shape;1163;p54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36/50</a:t>
            </a:r>
            <a:endParaRPr/>
          </a:p>
        </p:txBody>
      </p:sp>
      <p:sp>
        <p:nvSpPr>
          <p:cNvPr id="1164" name="Google Shape;1164;p54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165" name="Google Shape;1165;p54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166" name="Google Shape;1166;p54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54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168" name="Google Shape;1168;p54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169" name="Google Shape;1169;p54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170" name="Google Shape;1170;p54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171" name="Google Shape;1171;p54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2" name="Google Shape;1172;p54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7" name="Google Shape;1177;p55"/>
          <p:cNvGraphicFramePr/>
          <p:nvPr/>
        </p:nvGraphicFramePr>
        <p:xfrm>
          <a:off x="5046567" y="1354102"/>
          <a:ext cx="6814000" cy="4820035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78" name="Google Shape;1178;p55"/>
          <p:cNvSpPr txBox="1"/>
          <p:nvPr/>
        </p:nvSpPr>
        <p:spPr>
          <a:xfrm>
            <a:off x="143487" y="4077576"/>
            <a:ext cx="474604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L’efficienza aumenta al diminuire della corrente in uscita, a discapito della tensione in uscita e dunque del guadagno</a:t>
            </a:r>
            <a:endParaRPr/>
          </a:p>
        </p:txBody>
      </p:sp>
      <p:pic>
        <p:nvPicPr>
          <p:cNvPr id="1179" name="Google Shape;1179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987" y="1712812"/>
            <a:ext cx="4705547" cy="2158879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55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181" name="Google Shape;1181;p55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37/50</a:t>
            </a:r>
            <a:endParaRPr/>
          </a:p>
        </p:txBody>
      </p:sp>
      <p:sp>
        <p:nvSpPr>
          <p:cNvPr id="1182" name="Google Shape;1182;p55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183" name="Google Shape;1183;p55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184" name="Google Shape;1184;p55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55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186" name="Google Shape;1186;p55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187" name="Google Shape;1187;p55"/>
          <p:cNvSpPr txBox="1"/>
          <p:nvPr/>
        </p:nvSpPr>
        <p:spPr>
          <a:xfrm>
            <a:off x="8178219" y="125136"/>
            <a:ext cx="1475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188" name="Google Shape;1188;p55"/>
          <p:cNvSpPr txBox="1"/>
          <p:nvPr/>
        </p:nvSpPr>
        <p:spPr>
          <a:xfrm>
            <a:off x="10486511" y="174239"/>
            <a:ext cx="1092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189" name="Google Shape;1189;p55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0" name="Google Shape;1190;p55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1" name="Google Shape;1191;p55"/>
          <p:cNvSpPr txBox="1"/>
          <p:nvPr/>
        </p:nvSpPr>
        <p:spPr>
          <a:xfrm>
            <a:off x="398173" y="849365"/>
            <a:ext cx="119244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Efficienza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56"/>
          <p:cNvSpPr txBox="1"/>
          <p:nvPr/>
        </p:nvSpPr>
        <p:spPr>
          <a:xfrm>
            <a:off x="642848" y="1500809"/>
            <a:ext cx="1073737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Verificare il funzionamento del circuito con 2,5V in ingresso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Studiare il comportamento delle caratteristiche salienti del circuito come guadagno ed efficienza per frequenze di commutazioni superiori ai 100kHz</a:t>
            </a:r>
            <a:endParaRPr/>
          </a:p>
        </p:txBody>
      </p:sp>
      <p:sp>
        <p:nvSpPr>
          <p:cNvPr id="1197" name="Google Shape;1197;p56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198" name="Google Shape;1198;p56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38/50</a:t>
            </a:r>
            <a:endParaRPr/>
          </a:p>
        </p:txBody>
      </p:sp>
      <p:sp>
        <p:nvSpPr>
          <p:cNvPr id="1199" name="Google Shape;1199;p56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200" name="Google Shape;1200;p56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201" name="Google Shape;1201;p56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56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203" name="Google Shape;1203;p56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204" name="Google Shape;1204;p56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205" name="Google Shape;1205;p56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206" name="Google Shape;1206;p56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7" name="Google Shape;1207;p56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57"/>
          <p:cNvSpPr txBox="1"/>
          <p:nvPr/>
        </p:nvSpPr>
        <p:spPr>
          <a:xfrm>
            <a:off x="523783" y="1501509"/>
            <a:ext cx="11336784" cy="176650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827" l="-375" r="0" t="-17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13" name="Google Shape;1213;p57"/>
          <p:cNvSpPr txBox="1"/>
          <p:nvPr/>
        </p:nvSpPr>
        <p:spPr>
          <a:xfrm>
            <a:off x="523783" y="1003253"/>
            <a:ext cx="223695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Resistenza in uscita</a:t>
            </a:r>
            <a:endParaRPr/>
          </a:p>
        </p:txBody>
      </p:sp>
      <p:sp>
        <p:nvSpPr>
          <p:cNvPr id="1214" name="Google Shape;1214;p57"/>
          <p:cNvSpPr txBox="1"/>
          <p:nvPr/>
        </p:nvSpPr>
        <p:spPr>
          <a:xfrm>
            <a:off x="523782" y="4253960"/>
            <a:ext cx="213263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Induttore in uscita</a:t>
            </a:r>
            <a:endParaRPr/>
          </a:p>
        </p:txBody>
      </p:sp>
      <p:sp>
        <p:nvSpPr>
          <p:cNvPr id="1215" name="Google Shape;1215;p57"/>
          <p:cNvSpPr txBox="1"/>
          <p:nvPr/>
        </p:nvSpPr>
        <p:spPr>
          <a:xfrm>
            <a:off x="586404" y="4752216"/>
            <a:ext cx="4872552" cy="107766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521" l="-75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16" name="Google Shape;1216;p57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217" name="Google Shape;1217;p57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39/50</a:t>
            </a:r>
            <a:endParaRPr/>
          </a:p>
        </p:txBody>
      </p:sp>
      <p:sp>
        <p:nvSpPr>
          <p:cNvPr id="1218" name="Google Shape;1218;p57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219" name="Google Shape;1219;p57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220" name="Google Shape;1220;p57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57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222" name="Google Shape;1222;p57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223" name="Google Shape;1223;p57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224" name="Google Shape;1224;p57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225" name="Google Shape;1225;p57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6" name="Google Shape;1226;p57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58"/>
          <p:cNvSpPr txBox="1"/>
          <p:nvPr/>
        </p:nvSpPr>
        <p:spPr>
          <a:xfrm>
            <a:off x="464192" y="905522"/>
            <a:ext cx="46760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it-IT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Dimensionamento del capacitore di buffer</a:t>
            </a:r>
            <a:endParaRPr/>
          </a:p>
        </p:txBody>
      </p:sp>
      <p:sp>
        <p:nvSpPr>
          <p:cNvPr id="1232" name="Google Shape;1232;p58"/>
          <p:cNvSpPr txBox="1"/>
          <p:nvPr/>
        </p:nvSpPr>
        <p:spPr>
          <a:xfrm>
            <a:off x="577300" y="1527290"/>
            <a:ext cx="1718804" cy="3021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285" l="-2836" r="-212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3" name="Google Shape;1233;p58"/>
          <p:cNvSpPr txBox="1"/>
          <p:nvPr/>
        </p:nvSpPr>
        <p:spPr>
          <a:xfrm>
            <a:off x="522422" y="1913949"/>
            <a:ext cx="6974794" cy="3945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8461" l="-786" r="0" t="-76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4" name="Google Shape;1234;p58"/>
          <p:cNvSpPr txBox="1"/>
          <p:nvPr/>
        </p:nvSpPr>
        <p:spPr>
          <a:xfrm>
            <a:off x="577300" y="2375946"/>
            <a:ext cx="6953698" cy="61856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5" name="Google Shape;1235;p58"/>
          <p:cNvSpPr txBox="1"/>
          <p:nvPr/>
        </p:nvSpPr>
        <p:spPr>
          <a:xfrm>
            <a:off x="522422" y="3104170"/>
            <a:ext cx="2339038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-2349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6" name="Google Shape;1236;p58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237" name="Google Shape;1237;p58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40/50</a:t>
            </a:r>
            <a:endParaRPr/>
          </a:p>
        </p:txBody>
      </p:sp>
      <p:sp>
        <p:nvSpPr>
          <p:cNvPr id="1238" name="Google Shape;1238;p58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239" name="Google Shape;1239;p58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240" name="Google Shape;1240;p58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58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242" name="Google Shape;1242;p58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243" name="Google Shape;1243;p58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244" name="Google Shape;1244;p58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245" name="Google Shape;1245;p58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6" name="Google Shape;1246;p58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59"/>
          <p:cNvSpPr txBox="1"/>
          <p:nvPr/>
        </p:nvSpPr>
        <p:spPr>
          <a:xfrm>
            <a:off x="464192" y="905522"/>
            <a:ext cx="46760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it-IT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Dimensionamento del capacitore di buffer</a:t>
            </a:r>
            <a:endParaRPr/>
          </a:p>
        </p:txBody>
      </p:sp>
      <p:sp>
        <p:nvSpPr>
          <p:cNvPr id="1252" name="Google Shape;1252;p59"/>
          <p:cNvSpPr txBox="1"/>
          <p:nvPr/>
        </p:nvSpPr>
        <p:spPr>
          <a:xfrm>
            <a:off x="577300" y="1527290"/>
            <a:ext cx="1718804" cy="3021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285" l="-2836" r="-212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53" name="Google Shape;1253;p59"/>
          <p:cNvSpPr txBox="1"/>
          <p:nvPr/>
        </p:nvSpPr>
        <p:spPr>
          <a:xfrm>
            <a:off x="522422" y="1913949"/>
            <a:ext cx="6974794" cy="3945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8461" l="-786" r="0" t="-76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54" name="Google Shape;1254;p59"/>
          <p:cNvSpPr txBox="1"/>
          <p:nvPr/>
        </p:nvSpPr>
        <p:spPr>
          <a:xfrm>
            <a:off x="577300" y="2375946"/>
            <a:ext cx="6953698" cy="61856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55" name="Google Shape;1255;p59"/>
          <p:cNvSpPr txBox="1"/>
          <p:nvPr/>
        </p:nvSpPr>
        <p:spPr>
          <a:xfrm>
            <a:off x="522422" y="3104170"/>
            <a:ext cx="2339038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-2349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256" name="Google Shape;1256;p59"/>
          <p:cNvPicPr preferRelativeResize="0"/>
          <p:nvPr/>
        </p:nvPicPr>
        <p:blipFill rotWithShape="1">
          <a:blip r:embed="rId7">
            <a:alphaModFix/>
          </a:blip>
          <a:srcRect b="0" l="31876" r="32834" t="74123"/>
          <a:stretch/>
        </p:blipFill>
        <p:spPr>
          <a:xfrm>
            <a:off x="7077370" y="3263259"/>
            <a:ext cx="2893695" cy="5802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7" name="Google Shape;1257;p59"/>
          <p:cNvCxnSpPr/>
          <p:nvPr/>
        </p:nvCxnSpPr>
        <p:spPr>
          <a:xfrm rot="10800000">
            <a:off x="3493134" y="2887780"/>
            <a:ext cx="4270517" cy="64815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8" name="Google Shape;1258;p59"/>
          <p:cNvSpPr txBox="1"/>
          <p:nvPr/>
        </p:nvSpPr>
        <p:spPr>
          <a:xfrm>
            <a:off x="6642187" y="1242775"/>
            <a:ext cx="87036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7777" l="-633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259" name="Google Shape;1259;p59"/>
          <p:cNvCxnSpPr/>
          <p:nvPr/>
        </p:nvCxnSpPr>
        <p:spPr>
          <a:xfrm flipH="1">
            <a:off x="2555019" y="1395225"/>
            <a:ext cx="4025024" cy="99467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60" name="Google Shape;1260;p59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261" name="Google Shape;1261;p59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40/50</a:t>
            </a:r>
            <a:endParaRPr/>
          </a:p>
        </p:txBody>
      </p:sp>
      <p:sp>
        <p:nvSpPr>
          <p:cNvPr id="1262" name="Google Shape;1262;p59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263" name="Google Shape;1263;p59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264" name="Google Shape;1264;p59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59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266" name="Google Shape;1266;p59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267" name="Google Shape;1267;p59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268" name="Google Shape;1268;p59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269" name="Google Shape;1269;p59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0" name="Google Shape;1270;p59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60"/>
          <p:cNvSpPr txBox="1"/>
          <p:nvPr/>
        </p:nvSpPr>
        <p:spPr>
          <a:xfrm>
            <a:off x="464192" y="905522"/>
            <a:ext cx="46760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it-IT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Dimensionamento del capacitore di buffer</a:t>
            </a:r>
            <a:endParaRPr/>
          </a:p>
        </p:txBody>
      </p:sp>
      <p:sp>
        <p:nvSpPr>
          <p:cNvPr id="1276" name="Google Shape;1276;p60"/>
          <p:cNvSpPr txBox="1"/>
          <p:nvPr/>
        </p:nvSpPr>
        <p:spPr>
          <a:xfrm>
            <a:off x="577300" y="1527290"/>
            <a:ext cx="1718804" cy="3021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285" l="-2836" r="-212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77" name="Google Shape;1277;p60"/>
          <p:cNvSpPr txBox="1"/>
          <p:nvPr/>
        </p:nvSpPr>
        <p:spPr>
          <a:xfrm>
            <a:off x="522422" y="1913949"/>
            <a:ext cx="6974794" cy="3945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8461" l="-786" r="0" t="-76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78" name="Google Shape;1278;p60"/>
          <p:cNvSpPr txBox="1"/>
          <p:nvPr/>
        </p:nvSpPr>
        <p:spPr>
          <a:xfrm>
            <a:off x="577300" y="2375946"/>
            <a:ext cx="6953698" cy="61856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79" name="Google Shape;1279;p60"/>
          <p:cNvSpPr txBox="1"/>
          <p:nvPr/>
        </p:nvSpPr>
        <p:spPr>
          <a:xfrm>
            <a:off x="522422" y="3104170"/>
            <a:ext cx="2339038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-2349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80" name="Google Shape;1280;p60"/>
          <p:cNvSpPr txBox="1"/>
          <p:nvPr/>
        </p:nvSpPr>
        <p:spPr>
          <a:xfrm>
            <a:off x="464192" y="3728852"/>
            <a:ext cx="659206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it-IT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Dimensionamento del capacitore di trasferimento di energia</a:t>
            </a:r>
            <a:endParaRPr/>
          </a:p>
        </p:txBody>
      </p:sp>
      <p:sp>
        <p:nvSpPr>
          <p:cNvPr id="1281" name="Google Shape;1281;p60"/>
          <p:cNvSpPr txBox="1"/>
          <p:nvPr/>
        </p:nvSpPr>
        <p:spPr>
          <a:xfrm>
            <a:off x="577300" y="4286500"/>
            <a:ext cx="1580689" cy="30309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7998" l="-3472" r="-270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82" name="Google Shape;1282;p60"/>
          <p:cNvSpPr txBox="1"/>
          <p:nvPr/>
        </p:nvSpPr>
        <p:spPr>
          <a:xfrm>
            <a:off x="577300" y="4684342"/>
            <a:ext cx="6889707" cy="39542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8460" l="-795" r="0" t="-615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83" name="Google Shape;1283;p60"/>
          <p:cNvSpPr txBox="1"/>
          <p:nvPr/>
        </p:nvSpPr>
        <p:spPr>
          <a:xfrm>
            <a:off x="577300" y="5170897"/>
            <a:ext cx="5340693" cy="61946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84" name="Google Shape;1284;p60"/>
          <p:cNvSpPr txBox="1"/>
          <p:nvPr/>
        </p:nvSpPr>
        <p:spPr>
          <a:xfrm>
            <a:off x="528963" y="5852414"/>
            <a:ext cx="2156296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4589" l="-2548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285" name="Google Shape;1285;p60"/>
          <p:cNvPicPr preferRelativeResize="0"/>
          <p:nvPr/>
        </p:nvPicPr>
        <p:blipFill rotWithShape="1">
          <a:blip r:embed="rId11">
            <a:alphaModFix/>
          </a:blip>
          <a:srcRect b="0" l="31876" r="32834" t="74123"/>
          <a:stretch/>
        </p:blipFill>
        <p:spPr>
          <a:xfrm>
            <a:off x="7077370" y="3263259"/>
            <a:ext cx="2893695" cy="5802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6" name="Google Shape;1286;p60"/>
          <p:cNvCxnSpPr/>
          <p:nvPr/>
        </p:nvCxnSpPr>
        <p:spPr>
          <a:xfrm rot="10800000">
            <a:off x="3493134" y="2887780"/>
            <a:ext cx="4270517" cy="64815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87" name="Google Shape;1287;p60"/>
          <p:cNvSpPr txBox="1"/>
          <p:nvPr/>
        </p:nvSpPr>
        <p:spPr>
          <a:xfrm>
            <a:off x="6642187" y="1242775"/>
            <a:ext cx="870366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7777" l="-633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288" name="Google Shape;1288;p60"/>
          <p:cNvCxnSpPr/>
          <p:nvPr/>
        </p:nvCxnSpPr>
        <p:spPr>
          <a:xfrm flipH="1">
            <a:off x="2555019" y="1395225"/>
            <a:ext cx="4025024" cy="99467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89" name="Google Shape;1289;p60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290" name="Google Shape;1290;p60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40/50</a:t>
            </a:r>
            <a:endParaRPr/>
          </a:p>
        </p:txBody>
      </p:sp>
      <p:sp>
        <p:nvSpPr>
          <p:cNvPr id="1291" name="Google Shape;1291;p60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292" name="Google Shape;1292;p60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293" name="Google Shape;1293;p60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60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295" name="Google Shape;1295;p60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296" name="Google Shape;1296;p60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297" name="Google Shape;1297;p60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298" name="Google Shape;1298;p60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9" name="Google Shape;1299;p60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61"/>
          <p:cNvSpPr txBox="1"/>
          <p:nvPr/>
        </p:nvSpPr>
        <p:spPr>
          <a:xfrm>
            <a:off x="464192" y="905522"/>
            <a:ext cx="46024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 della capacità in uscita</a:t>
            </a:r>
            <a:endParaRPr/>
          </a:p>
        </p:txBody>
      </p:sp>
      <p:sp>
        <p:nvSpPr>
          <p:cNvPr id="1305" name="Google Shape;1305;p61"/>
          <p:cNvSpPr txBox="1"/>
          <p:nvPr/>
        </p:nvSpPr>
        <p:spPr>
          <a:xfrm>
            <a:off x="641684" y="1435219"/>
            <a:ext cx="10651958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149" l="-457" r="-457" t="-47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06" name="Google Shape;1306;p61"/>
          <p:cNvSpPr txBox="1"/>
          <p:nvPr/>
        </p:nvSpPr>
        <p:spPr>
          <a:xfrm>
            <a:off x="1050387" y="2255033"/>
            <a:ext cx="4552592" cy="6070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00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07" name="Google Shape;1307;p61"/>
          <p:cNvSpPr txBox="1"/>
          <p:nvPr/>
        </p:nvSpPr>
        <p:spPr>
          <a:xfrm>
            <a:off x="641684" y="3058175"/>
            <a:ext cx="10341421" cy="5572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296" l="-4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08" name="Google Shape;1308;p61"/>
          <p:cNvSpPr txBox="1"/>
          <p:nvPr/>
        </p:nvSpPr>
        <p:spPr>
          <a:xfrm>
            <a:off x="641684" y="3674613"/>
            <a:ext cx="82499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scelgono due capacitori da 750µF in parallelo.</a:t>
            </a:r>
            <a:endParaRPr/>
          </a:p>
        </p:txBody>
      </p:sp>
      <p:sp>
        <p:nvSpPr>
          <p:cNvPr id="1309" name="Google Shape;1309;p61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310" name="Google Shape;1310;p61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41/50</a:t>
            </a:r>
            <a:endParaRPr/>
          </a:p>
        </p:txBody>
      </p:sp>
      <p:sp>
        <p:nvSpPr>
          <p:cNvPr id="1311" name="Google Shape;1311;p61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312" name="Google Shape;1312;p61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313" name="Google Shape;1313;p61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61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315" name="Google Shape;1315;p61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316" name="Google Shape;1316;p61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317" name="Google Shape;1317;p61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318" name="Google Shape;1318;p61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9" name="Google Shape;1319;p61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4" name="Google Shape;132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135" y="1434556"/>
            <a:ext cx="10480801" cy="468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62"/>
          <p:cNvSpPr txBox="1"/>
          <p:nvPr/>
        </p:nvSpPr>
        <p:spPr>
          <a:xfrm>
            <a:off x="464192" y="905522"/>
            <a:ext cx="32834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Implementazione del circuito</a:t>
            </a:r>
            <a:endParaRPr/>
          </a:p>
        </p:txBody>
      </p:sp>
      <p:sp>
        <p:nvSpPr>
          <p:cNvPr id="1326" name="Google Shape;1326;p62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327" name="Google Shape;1327;p62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42/50</a:t>
            </a:r>
            <a:endParaRPr/>
          </a:p>
        </p:txBody>
      </p:sp>
      <p:sp>
        <p:nvSpPr>
          <p:cNvPr id="1328" name="Google Shape;1328;p62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329" name="Google Shape;1329;p62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330" name="Google Shape;1330;p62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62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332" name="Google Shape;1332;p62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333" name="Google Shape;1333;p62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334" name="Google Shape;1334;p62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335" name="Google Shape;1335;p62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6" name="Google Shape;1336;p62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63"/>
          <p:cNvSpPr txBox="1"/>
          <p:nvPr/>
        </p:nvSpPr>
        <p:spPr>
          <a:xfrm>
            <a:off x="6933461" y="2636862"/>
            <a:ext cx="4927106" cy="245272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8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342" name="Google Shape;1342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1304" y="1249475"/>
            <a:ext cx="5383825" cy="254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3" name="Google Shape;1343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966" y="3877797"/>
            <a:ext cx="5402500" cy="2410553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63"/>
          <p:cNvSpPr txBox="1"/>
          <p:nvPr/>
        </p:nvSpPr>
        <p:spPr>
          <a:xfrm>
            <a:off x="398173" y="849365"/>
            <a:ext cx="306455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Risultati: Tensione in uscita</a:t>
            </a:r>
            <a:endParaRPr/>
          </a:p>
        </p:txBody>
      </p:sp>
      <p:sp>
        <p:nvSpPr>
          <p:cNvPr id="1345" name="Google Shape;1345;p63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346" name="Google Shape;1346;p63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43/50</a:t>
            </a:r>
            <a:endParaRPr/>
          </a:p>
        </p:txBody>
      </p:sp>
      <p:sp>
        <p:nvSpPr>
          <p:cNvPr id="1347" name="Google Shape;1347;p63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348" name="Google Shape;1348;p63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349" name="Google Shape;1349;p63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63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351" name="Google Shape;1351;p63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352" name="Google Shape;1352;p63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353" name="Google Shape;1353;p63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354" name="Google Shape;1354;p63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5" name="Google Shape;1355;p63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64"/>
          <p:cNvSpPr txBox="1"/>
          <p:nvPr/>
        </p:nvSpPr>
        <p:spPr>
          <a:xfrm>
            <a:off x="6564779" y="1196840"/>
            <a:ext cx="5104660" cy="260622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74" r="-476" t="-11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361" name="Google Shape;1361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135" y="1277111"/>
            <a:ext cx="5504979" cy="2469298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64"/>
          <p:cNvSpPr txBox="1"/>
          <p:nvPr/>
        </p:nvSpPr>
        <p:spPr>
          <a:xfrm>
            <a:off x="398173" y="849365"/>
            <a:ext cx="2252411" cy="42774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9999" l="-2702" r="0" t="-57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63" name="Google Shape;1363;p64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364" name="Google Shape;1364;p64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44/50</a:t>
            </a:r>
            <a:endParaRPr/>
          </a:p>
        </p:txBody>
      </p:sp>
      <p:sp>
        <p:nvSpPr>
          <p:cNvPr id="1365" name="Google Shape;1365;p64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366" name="Google Shape;1366;p64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367" name="Google Shape;1367;p64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64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369" name="Google Shape;1369;p64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370" name="Google Shape;1370;p64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371" name="Google Shape;1371;p64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372" name="Google Shape;1372;p64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3" name="Google Shape;1373;p64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65"/>
          <p:cNvSpPr txBox="1"/>
          <p:nvPr/>
        </p:nvSpPr>
        <p:spPr>
          <a:xfrm>
            <a:off x="6564779" y="1196840"/>
            <a:ext cx="5104660" cy="260622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74" r="-476" t="-11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379" name="Google Shape;137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135" y="1277111"/>
            <a:ext cx="5504979" cy="2469298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65"/>
          <p:cNvSpPr txBox="1"/>
          <p:nvPr/>
        </p:nvSpPr>
        <p:spPr>
          <a:xfrm>
            <a:off x="398173" y="849365"/>
            <a:ext cx="2252411" cy="42774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9999" l="-2702" r="0" t="-57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81" name="Google Shape;1381;p65"/>
          <p:cNvSpPr/>
          <p:nvPr/>
        </p:nvSpPr>
        <p:spPr>
          <a:xfrm>
            <a:off x="6555902" y="3877045"/>
            <a:ext cx="5411198" cy="152952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900" r="0" t="-238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382" name="Google Shape;1382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135" y="3807920"/>
            <a:ext cx="5504978" cy="24985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65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384" name="Google Shape;1384;p65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44/50</a:t>
            </a:r>
            <a:endParaRPr/>
          </a:p>
        </p:txBody>
      </p:sp>
      <p:sp>
        <p:nvSpPr>
          <p:cNvPr id="1385" name="Google Shape;1385;p65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386" name="Google Shape;1386;p65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387" name="Google Shape;1387;p65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65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389" name="Google Shape;1389;p65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390" name="Google Shape;1390;p65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391" name="Google Shape;1391;p65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392" name="Google Shape;1392;p65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3" name="Google Shape;1393;p65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135" y="1310502"/>
            <a:ext cx="5324865" cy="2485045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66"/>
          <p:cNvSpPr txBox="1"/>
          <p:nvPr/>
        </p:nvSpPr>
        <p:spPr>
          <a:xfrm>
            <a:off x="6315850" y="1243789"/>
            <a:ext cx="5242875" cy="21900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29" r="0" t="-13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00" name="Google Shape;1400;p66"/>
          <p:cNvSpPr txBox="1"/>
          <p:nvPr/>
        </p:nvSpPr>
        <p:spPr>
          <a:xfrm>
            <a:off x="398173" y="849365"/>
            <a:ext cx="31248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Risultati: induttore in uscita</a:t>
            </a:r>
            <a:endParaRPr/>
          </a:p>
        </p:txBody>
      </p:sp>
      <p:sp>
        <p:nvSpPr>
          <p:cNvPr id="1401" name="Google Shape;1401;p66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402" name="Google Shape;1402;p66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45/50</a:t>
            </a:r>
            <a:endParaRPr/>
          </a:p>
        </p:txBody>
      </p:sp>
      <p:sp>
        <p:nvSpPr>
          <p:cNvPr id="1403" name="Google Shape;1403;p66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404" name="Google Shape;1404;p66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405" name="Google Shape;1405;p66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66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407" name="Google Shape;1407;p66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408" name="Google Shape;1408;p66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409" name="Google Shape;1409;p66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410" name="Google Shape;1410;p66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1" name="Google Shape;1411;p66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6" name="Google Shape;141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135" y="1310502"/>
            <a:ext cx="5324865" cy="2485045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67"/>
          <p:cNvSpPr txBox="1"/>
          <p:nvPr/>
        </p:nvSpPr>
        <p:spPr>
          <a:xfrm>
            <a:off x="6315850" y="1243789"/>
            <a:ext cx="5242875" cy="21900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29" r="0" t="-13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18" name="Google Shape;1418;p67"/>
          <p:cNvSpPr txBox="1"/>
          <p:nvPr/>
        </p:nvSpPr>
        <p:spPr>
          <a:xfrm>
            <a:off x="398173" y="849365"/>
            <a:ext cx="31248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Risultati: induttore in uscita</a:t>
            </a:r>
            <a:endParaRPr/>
          </a:p>
        </p:txBody>
      </p:sp>
      <p:pic>
        <p:nvPicPr>
          <p:cNvPr id="1419" name="Google Shape;1419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135" y="3834221"/>
            <a:ext cx="5324865" cy="248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67"/>
          <p:cNvSpPr/>
          <p:nvPr/>
        </p:nvSpPr>
        <p:spPr>
          <a:xfrm>
            <a:off x="6375129" y="4411756"/>
            <a:ext cx="5485438" cy="177651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999" r="0" t="-24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21" name="Google Shape;1421;p67"/>
          <p:cNvSpPr txBox="1"/>
          <p:nvPr/>
        </p:nvSpPr>
        <p:spPr>
          <a:xfrm>
            <a:off x="6315850" y="3858053"/>
            <a:ext cx="2160015" cy="3945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22" name="Google Shape;1422;p67"/>
          <p:cNvSpPr txBox="1"/>
          <p:nvPr/>
        </p:nvSpPr>
        <p:spPr>
          <a:xfrm>
            <a:off x="8894617" y="3856066"/>
            <a:ext cx="2127955" cy="39651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53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23" name="Google Shape;1423;p67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424" name="Google Shape;1424;p67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45/50</a:t>
            </a:r>
            <a:endParaRPr/>
          </a:p>
        </p:txBody>
      </p:sp>
      <p:sp>
        <p:nvSpPr>
          <p:cNvPr id="1425" name="Google Shape;1425;p67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426" name="Google Shape;1426;p67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427" name="Google Shape;1427;p67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67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429" name="Google Shape;1429;p67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430" name="Google Shape;1430;p67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431" name="Google Shape;1431;p67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432" name="Google Shape;1432;p67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3" name="Google Shape;1433;p67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68"/>
          <p:cNvPicPr preferRelativeResize="0"/>
          <p:nvPr/>
        </p:nvPicPr>
        <p:blipFill rotWithShape="1">
          <a:blip r:embed="rId3">
            <a:alphaModFix/>
          </a:blip>
          <a:srcRect b="0" l="0" r="1227" t="0"/>
          <a:stretch/>
        </p:blipFill>
        <p:spPr>
          <a:xfrm>
            <a:off x="852256" y="3825108"/>
            <a:ext cx="6063353" cy="2434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9" name="Google Shape;1439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256" y="1220844"/>
            <a:ext cx="6063353" cy="2594097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68"/>
          <p:cNvSpPr txBox="1"/>
          <p:nvPr/>
        </p:nvSpPr>
        <p:spPr>
          <a:xfrm>
            <a:off x="7027384" y="1166549"/>
            <a:ext cx="2752998" cy="103746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8186" l="-1995" r="-1107" t="-292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41" name="Google Shape;1441;p68"/>
          <p:cNvSpPr/>
          <p:nvPr/>
        </p:nvSpPr>
        <p:spPr>
          <a:xfrm>
            <a:off x="7027384" y="3826582"/>
            <a:ext cx="2964175" cy="10374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528" l="-1851" r="0" t="-352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42" name="Google Shape;1442;p68"/>
          <p:cNvSpPr txBox="1"/>
          <p:nvPr/>
        </p:nvSpPr>
        <p:spPr>
          <a:xfrm>
            <a:off x="398173" y="849365"/>
            <a:ext cx="23793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Risultati: interruttori</a:t>
            </a:r>
            <a:endParaRPr/>
          </a:p>
        </p:txBody>
      </p:sp>
      <p:sp>
        <p:nvSpPr>
          <p:cNvPr id="1443" name="Google Shape;1443;p68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444" name="Google Shape;1444;p68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46/50</a:t>
            </a:r>
            <a:endParaRPr/>
          </a:p>
        </p:txBody>
      </p:sp>
      <p:sp>
        <p:nvSpPr>
          <p:cNvPr id="1445" name="Google Shape;1445;p68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446" name="Google Shape;1446;p68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447" name="Google Shape;1447;p68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68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449" name="Google Shape;1449;p68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450" name="Google Shape;1450;p68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451" name="Google Shape;1451;p68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452" name="Google Shape;1452;p68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3" name="Google Shape;1453;p68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69"/>
          <p:cNvSpPr txBox="1"/>
          <p:nvPr/>
        </p:nvSpPr>
        <p:spPr>
          <a:xfrm>
            <a:off x="666499" y="5493570"/>
            <a:ext cx="5429500" cy="6596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59" name="Google Shape;1459;p69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460" name="Google Shape;1460;p69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47/50</a:t>
            </a:r>
            <a:endParaRPr/>
          </a:p>
        </p:txBody>
      </p:sp>
      <p:sp>
        <p:nvSpPr>
          <p:cNvPr id="1461" name="Google Shape;1461;p69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462" name="Google Shape;1462;p69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463" name="Google Shape;1463;p69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69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465" name="Google Shape;1465;p69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466" name="Google Shape;1466;p69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467" name="Google Shape;1467;p69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468" name="Google Shape;1468;p69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9" name="Google Shape;1469;p69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0" name="Google Shape;1470;p69"/>
          <p:cNvSpPr txBox="1"/>
          <p:nvPr/>
        </p:nvSpPr>
        <p:spPr>
          <a:xfrm>
            <a:off x="398173" y="849365"/>
            <a:ext cx="119244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Efficienza</a:t>
            </a:r>
            <a:endParaRPr/>
          </a:p>
        </p:txBody>
      </p:sp>
      <p:pic>
        <p:nvPicPr>
          <p:cNvPr descr="Immagine che contiene esterni, luce, verde, edificio&#10;&#10;Descrizione generata automaticamente" id="1471" name="Google Shape;1471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777" y="1325133"/>
            <a:ext cx="9598443" cy="4012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70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477" name="Google Shape;1477;p70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48/50</a:t>
            </a:r>
            <a:endParaRPr/>
          </a:p>
        </p:txBody>
      </p:sp>
      <p:sp>
        <p:nvSpPr>
          <p:cNvPr id="1478" name="Google Shape;1478;p70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479" name="Google Shape;1479;p70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480" name="Google Shape;1480;p70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70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482" name="Google Shape;1482;p70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483" name="Google Shape;1483;p70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484" name="Google Shape;1484;p70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485" name="Google Shape;1485;p70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6" name="Google Shape;1486;p70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7" name="Google Shape;1487;p70"/>
          <p:cNvSpPr txBox="1"/>
          <p:nvPr/>
        </p:nvSpPr>
        <p:spPr>
          <a:xfrm>
            <a:off x="398173" y="849365"/>
            <a:ext cx="87846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per frequenze di commutazione superiori a 100kHz: guadagno di tensione</a:t>
            </a:r>
            <a:endParaRPr/>
          </a:p>
        </p:txBody>
      </p:sp>
      <p:graphicFrame>
        <p:nvGraphicFramePr>
          <p:cNvPr id="1488" name="Google Shape;1488;p70"/>
          <p:cNvGraphicFramePr/>
          <p:nvPr/>
        </p:nvGraphicFramePr>
        <p:xfrm>
          <a:off x="5021760" y="1416431"/>
          <a:ext cx="7078980" cy="4592197"/>
        </p:xfrm>
        <a:graphic>
          <a:graphicData uri="http://schemas.openxmlformats.org/drawingml/2006/chart">
            <c:chart r:id="rId3"/>
          </a:graphicData>
        </a:graphic>
      </p:graphicFrame>
      <p:pic>
        <p:nvPicPr>
          <p:cNvPr id="1489" name="Google Shape;1489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857" y="1325133"/>
            <a:ext cx="4708510" cy="3193598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70"/>
          <p:cNvSpPr txBox="1"/>
          <p:nvPr/>
        </p:nvSpPr>
        <p:spPr>
          <a:xfrm>
            <a:off x="341016" y="4675164"/>
            <a:ext cx="47775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guadagno non dipende dalla frequenza, come suggerito dalla formula</a:t>
            </a:r>
            <a:endParaRPr/>
          </a:p>
        </p:txBody>
      </p:sp>
      <p:sp>
        <p:nvSpPr>
          <p:cNvPr id="1491" name="Google Shape;1491;p70"/>
          <p:cNvSpPr txBox="1"/>
          <p:nvPr/>
        </p:nvSpPr>
        <p:spPr>
          <a:xfrm>
            <a:off x="1666882" y="5397153"/>
            <a:ext cx="2125775" cy="69346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71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497" name="Google Shape;1497;p71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49/50</a:t>
            </a:r>
            <a:endParaRPr/>
          </a:p>
        </p:txBody>
      </p:sp>
      <p:sp>
        <p:nvSpPr>
          <p:cNvPr id="1498" name="Google Shape;1498;p71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sp>
        <p:nvSpPr>
          <p:cNvPr id="1499" name="Google Shape;1499;p71"/>
          <p:cNvSpPr txBox="1"/>
          <p:nvPr/>
        </p:nvSpPr>
        <p:spPr>
          <a:xfrm>
            <a:off x="341016" y="174238"/>
            <a:ext cx="1139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</a:t>
            </a:r>
            <a:endParaRPr/>
          </a:p>
        </p:txBody>
      </p:sp>
      <p:sp>
        <p:nvSpPr>
          <p:cNvPr id="1500" name="Google Shape;1500;p71"/>
          <p:cNvSpPr txBox="1"/>
          <p:nvPr/>
        </p:nvSpPr>
        <p:spPr>
          <a:xfrm>
            <a:off x="2233773" y="174239"/>
            <a:ext cx="8639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Obiettivo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71"/>
          <p:cNvSpPr txBox="1"/>
          <p:nvPr/>
        </p:nvSpPr>
        <p:spPr>
          <a:xfrm>
            <a:off x="3722509" y="174238"/>
            <a:ext cx="1550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del circuito</a:t>
            </a:r>
            <a:endParaRPr/>
          </a:p>
        </p:txBody>
      </p:sp>
      <p:sp>
        <p:nvSpPr>
          <p:cNvPr id="1502" name="Google Shape;1502;p71"/>
          <p:cNvSpPr txBox="1"/>
          <p:nvPr/>
        </p:nvSpPr>
        <p:spPr>
          <a:xfrm>
            <a:off x="6021887" y="171303"/>
            <a:ext cx="1559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Dimensionamento</a:t>
            </a:r>
            <a:endParaRPr/>
          </a:p>
        </p:txBody>
      </p:sp>
      <p:sp>
        <p:nvSpPr>
          <p:cNvPr id="1503" name="Google Shape;1503;p71"/>
          <p:cNvSpPr txBox="1"/>
          <p:nvPr/>
        </p:nvSpPr>
        <p:spPr>
          <a:xfrm>
            <a:off x="8409039" y="178673"/>
            <a:ext cx="1088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Simulazione</a:t>
            </a:r>
            <a:endParaRPr/>
          </a:p>
        </p:txBody>
      </p:sp>
      <p:sp>
        <p:nvSpPr>
          <p:cNvPr id="1504" name="Google Shape;1504;p71"/>
          <p:cNvSpPr txBox="1"/>
          <p:nvPr/>
        </p:nvSpPr>
        <p:spPr>
          <a:xfrm>
            <a:off x="10184670" y="132506"/>
            <a:ext cx="15088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Integrazione</a:t>
            </a:r>
            <a:endParaRPr/>
          </a:p>
        </p:txBody>
      </p:sp>
      <p:cxnSp>
        <p:nvCxnSpPr>
          <p:cNvPr id="1505" name="Google Shape;1505;p71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6" name="Google Shape;1506;p71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07" name="Google Shape;1507;p71"/>
          <p:cNvSpPr txBox="1"/>
          <p:nvPr/>
        </p:nvSpPr>
        <p:spPr>
          <a:xfrm>
            <a:off x="398173" y="849365"/>
            <a:ext cx="75146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per frequenze di commutazione superiori a 100kHz: efficienza</a:t>
            </a:r>
            <a:endParaRPr/>
          </a:p>
        </p:txBody>
      </p:sp>
      <p:pic>
        <p:nvPicPr>
          <p:cNvPr id="1508" name="Google Shape;150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015" y="1322611"/>
            <a:ext cx="4527035" cy="30953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9" name="Google Shape;1509;p71"/>
          <p:cNvGraphicFramePr/>
          <p:nvPr/>
        </p:nvGraphicFramePr>
        <p:xfrm>
          <a:off x="4868050" y="1398269"/>
          <a:ext cx="7241092" cy="4780589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510" name="Google Shape;1510;p71"/>
          <p:cNvSpPr txBox="1"/>
          <p:nvPr/>
        </p:nvSpPr>
        <p:spPr>
          <a:xfrm>
            <a:off x="589013" y="4595353"/>
            <a:ext cx="427903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L’efficienza cala all’aumentare della frequenza di commutazione a causa dell’aumento della corrente media in ingresso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72"/>
          <p:cNvSpPr txBox="1"/>
          <p:nvPr/>
        </p:nvSpPr>
        <p:spPr>
          <a:xfrm>
            <a:off x="4337040" y="122814"/>
            <a:ext cx="33489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Conclusioni</a:t>
            </a:r>
            <a:endParaRPr/>
          </a:p>
        </p:txBody>
      </p:sp>
      <p:sp>
        <p:nvSpPr>
          <p:cNvPr id="1516" name="Google Shape;1516;p72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517" name="Google Shape;1517;p72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50/50</a:t>
            </a:r>
            <a:endParaRPr/>
          </a:p>
        </p:txBody>
      </p:sp>
      <p:sp>
        <p:nvSpPr>
          <p:cNvPr id="1518" name="Google Shape;1518;p72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cxnSp>
        <p:nvCxnSpPr>
          <p:cNvPr id="1519" name="Google Shape;1519;p72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0" name="Google Shape;1520;p72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1" name="Google Shape;1521;p72"/>
          <p:cNvSpPr txBox="1"/>
          <p:nvPr/>
        </p:nvSpPr>
        <p:spPr>
          <a:xfrm>
            <a:off x="452761" y="678167"/>
            <a:ext cx="11407806" cy="37601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70" l="-426" r="-373" t="-8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1522" name="Google Shape;1522;p72"/>
          <p:cNvGraphicFramePr/>
          <p:nvPr/>
        </p:nvGraphicFramePr>
        <p:xfrm>
          <a:off x="736845" y="4341915"/>
          <a:ext cx="4882719" cy="2053930"/>
        </p:xfrm>
        <a:graphic>
          <a:graphicData uri="http://schemas.openxmlformats.org/drawingml/2006/chart">
            <c:chart r:id="rId4"/>
          </a:graphicData>
        </a:graphic>
      </p:graphicFrame>
      <p:pic>
        <p:nvPicPr>
          <p:cNvPr id="1523" name="Google Shape;1523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5625" y="4566491"/>
            <a:ext cx="4411457" cy="1829354"/>
          </a:xfrm>
          <a:prstGeom prst="rect">
            <a:avLst/>
          </a:prstGeom>
          <a:noFill/>
          <a:ln>
            <a:noFill/>
          </a:ln>
        </p:spPr>
      </p:pic>
      <p:sp>
        <p:nvSpPr>
          <p:cNvPr id="1524" name="Google Shape;1524;p72"/>
          <p:cNvSpPr txBox="1"/>
          <p:nvPr/>
        </p:nvSpPr>
        <p:spPr>
          <a:xfrm>
            <a:off x="6685625" y="4262478"/>
            <a:ext cx="13714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Nell’articolo: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73"/>
          <p:cNvSpPr txBox="1"/>
          <p:nvPr/>
        </p:nvSpPr>
        <p:spPr>
          <a:xfrm>
            <a:off x="4337040" y="122814"/>
            <a:ext cx="33489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Conclusioni</a:t>
            </a:r>
            <a:endParaRPr/>
          </a:p>
        </p:txBody>
      </p:sp>
      <p:sp>
        <p:nvSpPr>
          <p:cNvPr id="1530" name="Google Shape;1530;p73"/>
          <p:cNvSpPr txBox="1"/>
          <p:nvPr>
            <p:ph idx="10" type="dt"/>
          </p:nvPr>
        </p:nvSpPr>
        <p:spPr>
          <a:xfrm>
            <a:off x="162504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AA 2019/2020</a:t>
            </a:r>
            <a:endParaRPr/>
          </a:p>
        </p:txBody>
      </p:sp>
      <p:sp>
        <p:nvSpPr>
          <p:cNvPr id="1531" name="Google Shape;1531;p73"/>
          <p:cNvSpPr txBox="1"/>
          <p:nvPr>
            <p:ph idx="12" type="sldNum"/>
          </p:nvPr>
        </p:nvSpPr>
        <p:spPr>
          <a:xfrm>
            <a:off x="9726967" y="650933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50/50</a:t>
            </a:r>
            <a:endParaRPr/>
          </a:p>
        </p:txBody>
      </p:sp>
      <p:sp>
        <p:nvSpPr>
          <p:cNvPr id="1532" name="Google Shape;1532;p73"/>
          <p:cNvSpPr txBox="1"/>
          <p:nvPr>
            <p:ph idx="11" type="ftr"/>
          </p:nvPr>
        </p:nvSpPr>
        <p:spPr>
          <a:xfrm>
            <a:off x="4868051" y="650933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</a:rPr>
              <a:t>Maurizio Antonini</a:t>
            </a:r>
            <a:endParaRPr/>
          </a:p>
        </p:txBody>
      </p:sp>
      <p:cxnSp>
        <p:nvCxnSpPr>
          <p:cNvPr id="1533" name="Google Shape;1533;p73"/>
          <p:cNvCxnSpPr/>
          <p:nvPr/>
        </p:nvCxnSpPr>
        <p:spPr>
          <a:xfrm>
            <a:off x="162504" y="6433674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4" name="Google Shape;1534;p73"/>
          <p:cNvCxnSpPr/>
          <p:nvPr/>
        </p:nvCxnSpPr>
        <p:spPr>
          <a:xfrm>
            <a:off x="172856" y="602508"/>
            <a:ext cx="11698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5" name="Google Shape;1535;p73"/>
          <p:cNvSpPr txBox="1"/>
          <p:nvPr/>
        </p:nvSpPr>
        <p:spPr>
          <a:xfrm>
            <a:off x="452761" y="678167"/>
            <a:ext cx="11407806" cy="509972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55" l="-426" r="-320" t="-5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74"/>
          <p:cNvSpPr txBox="1"/>
          <p:nvPr/>
        </p:nvSpPr>
        <p:spPr>
          <a:xfrm>
            <a:off x="4136995" y="3009529"/>
            <a:ext cx="406784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GRAZIE PER L’ATTENZIONE</a:t>
            </a:r>
            <a:endParaRPr/>
          </a:p>
        </p:txBody>
      </p:sp>
      <p:sp>
        <p:nvSpPr>
          <p:cNvPr id="1541" name="Google Shape;1541;p74"/>
          <p:cNvSpPr/>
          <p:nvPr/>
        </p:nvSpPr>
        <p:spPr>
          <a:xfrm>
            <a:off x="3160450" y="2547891"/>
            <a:ext cx="5921406" cy="1455938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2020-03-02T12:00:54Z</dcterms:created>
  <dc:creator>Maurizio Antonini</dc:creator>
</cp:coreProperties>
</file>